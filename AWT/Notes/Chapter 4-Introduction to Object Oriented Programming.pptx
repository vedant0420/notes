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7" r:id="rId12"/>
    <p:sldId id="266"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97"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206" autoAdjust="0"/>
    <p:restoredTop sz="94660"/>
  </p:normalViewPr>
  <p:slideViewPr>
    <p:cSldViewPr snapToGrid="0">
      <p:cViewPr varScale="1">
        <p:scale>
          <a:sx n="82" d="100"/>
          <a:sy n="82" d="100"/>
        </p:scale>
        <p:origin x="619"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164C00-7190-473B-8FE0-BCC5DE2F7E9E}" type="datetimeFigureOut">
              <a:rPr lang="en-US" smtClean="0"/>
              <a:t>10/30/2025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76B06F-D0AD-45F9-B655-CD5DBC85EBF4}" type="slidenum">
              <a:rPr lang="en-US" smtClean="0"/>
              <a:t>‹#›</a:t>
            </a:fld>
            <a:endParaRPr lang="en-US"/>
          </a:p>
        </p:txBody>
      </p:sp>
    </p:spTree>
    <p:extLst>
      <p:ext uri="{BB962C8B-B14F-4D97-AF65-F5344CB8AC3E}">
        <p14:creationId xmlns:p14="http://schemas.microsoft.com/office/powerpoint/2010/main" val="786174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727200" y="3200400"/>
            <a:ext cx="85344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EC4427C5-B489-4F5C-81B1-07D8D9F7D900}" type="datetime1">
              <a:rPr lang="en-US" smtClean="0"/>
              <a:t>10/30/2025</a:t>
            </a:fld>
            <a:endParaRPr lang="en-US" dirty="0"/>
          </a:p>
        </p:txBody>
      </p:sp>
      <p:sp>
        <p:nvSpPr>
          <p:cNvPr id="17" name="Footer Placeholder 16"/>
          <p:cNvSpPr>
            <a:spLocks noGrp="1"/>
          </p:cNvSpPr>
          <p:nvPr>
            <p:ph type="ftr" sz="quarter" idx="11"/>
          </p:nvPr>
        </p:nvSpPr>
        <p:spPr/>
        <p:txBody>
          <a:bodyPr/>
          <a:lstStyle/>
          <a:p>
            <a:r>
              <a:rPr lang="en-US"/>
              <a:t>Prepared by Deepali Sonawane, MIT-WPU, Pune</a:t>
            </a:r>
            <a:endParaRPr lang="en-US" dirty="0"/>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780B840B-8440-491F-9B6D-9775EAACA548}" type="slidenum">
              <a:rPr lang="en-US" smtClean="0"/>
              <a:pPr/>
              <a:t>‹#›</a:t>
            </a:fld>
            <a:endParaRPr lang="en-US" dirty="0"/>
          </a:p>
        </p:txBody>
      </p:sp>
      <p:sp>
        <p:nvSpPr>
          <p:cNvPr id="7" name="Rectangle 6"/>
          <p:cNvSpPr/>
          <p:nvPr/>
        </p:nvSpPr>
        <p:spPr>
          <a:xfrm>
            <a:off x="83909" y="1449304"/>
            <a:ext cx="12028716"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83909" y="1396720"/>
            <a:ext cx="12028716"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83909" y="2976649"/>
            <a:ext cx="12028716"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609600" y="1505931"/>
            <a:ext cx="109728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23C6B4EE-5E9E-49E2-A92E-9EE9464B79F1}" type="datetime1">
              <a:rPr lang="en-US" smtClean="0"/>
              <a:t>10/30/2025</a:t>
            </a:fld>
            <a:endParaRPr lang="en-US" dirty="0"/>
          </a:p>
        </p:txBody>
      </p:sp>
      <p:sp>
        <p:nvSpPr>
          <p:cNvPr id="5" name="Footer Placeholder 4"/>
          <p:cNvSpPr>
            <a:spLocks noGrp="1"/>
          </p:cNvSpPr>
          <p:nvPr>
            <p:ph type="ftr" sz="quarter" idx="11"/>
          </p:nvPr>
        </p:nvSpPr>
        <p:spPr/>
        <p:txBody>
          <a:bodyPr/>
          <a:lstStyle/>
          <a:p>
            <a:r>
              <a:rPr lang="en-US"/>
              <a:t>Prepared by Deepali Sonawane, MIT-WPU, Pune</a:t>
            </a:r>
            <a:endParaRPr lang="en-US" dirty="0"/>
          </a:p>
        </p:txBody>
      </p:sp>
      <p:sp>
        <p:nvSpPr>
          <p:cNvPr id="6" name="Slide Number Placeholder 5"/>
          <p:cNvSpPr>
            <a:spLocks noGrp="1"/>
          </p:cNvSpPr>
          <p:nvPr>
            <p:ph type="sldNum" sz="quarter" idx="12"/>
          </p:nvPr>
        </p:nvSpPr>
        <p:spPr/>
        <p:txBody>
          <a:bodyPr/>
          <a:lstStyle/>
          <a:p>
            <a:fld id="{780B840B-8440-491F-9B6D-9775EAACA548}" type="slidenum">
              <a:rPr lang="en-US" smtClean="0"/>
              <a:pPr/>
              <a:t>‹#›</a:t>
            </a:fld>
            <a:endParaRPr lang="en-US" dirty="0"/>
          </a:p>
        </p:txBody>
      </p:sp>
      <p:sp>
        <p:nvSpPr>
          <p:cNvPr id="8" name="Content Placeholder 7"/>
          <p:cNvSpPr>
            <a:spLocks noGrp="1"/>
          </p:cNvSpPr>
          <p:nvPr>
            <p:ph sz="quarter" idx="1"/>
          </p:nvPr>
        </p:nvSpPr>
        <p:spPr>
          <a:xfrm>
            <a:off x="1219200" y="1447800"/>
            <a:ext cx="103632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63084" y="952501"/>
            <a:ext cx="103632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963084" y="2547938"/>
            <a:ext cx="103632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7165F1D-5E6A-47CD-AE21-C52A9BC01B79}" type="datetime1">
              <a:rPr lang="en-US" smtClean="0"/>
              <a:t>10/30/2025</a:t>
            </a:fld>
            <a:endParaRPr lang="en-US" dirty="0"/>
          </a:p>
        </p:txBody>
      </p:sp>
      <p:sp>
        <p:nvSpPr>
          <p:cNvPr id="5" name="Footer Placeholder 4"/>
          <p:cNvSpPr>
            <a:spLocks noGrp="1"/>
          </p:cNvSpPr>
          <p:nvPr>
            <p:ph type="ftr" sz="quarter" idx="11"/>
          </p:nvPr>
        </p:nvSpPr>
        <p:spPr>
          <a:xfrm>
            <a:off x="1066800" y="6172200"/>
            <a:ext cx="5334000" cy="457200"/>
          </a:xfrm>
        </p:spPr>
        <p:txBody>
          <a:bodyPr/>
          <a:lstStyle/>
          <a:p>
            <a:r>
              <a:rPr lang="en-US"/>
              <a:t>Prepared by Deepali Sonawane, MIT-WPU, Pune</a:t>
            </a:r>
            <a:endParaRPr lang="en-US" dirty="0"/>
          </a:p>
        </p:txBody>
      </p:sp>
      <p:sp>
        <p:nvSpPr>
          <p:cNvPr id="7" name="Rectangle 6"/>
          <p:cNvSpPr/>
          <p:nvPr/>
        </p:nvSpPr>
        <p:spPr>
          <a:xfrm flipV="1">
            <a:off x="92550" y="2376830"/>
            <a:ext cx="120180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2195" y="2341476"/>
            <a:ext cx="12018375"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075" y="2468880"/>
            <a:ext cx="12019495"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95072" y="6208776"/>
            <a:ext cx="609600" cy="457200"/>
          </a:xfrm>
        </p:spPr>
        <p:txBody>
          <a:bodyPr/>
          <a:lstStyle/>
          <a:p>
            <a:fld id="{780B840B-8440-491F-9B6D-9775EAACA548}"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9A1EB349-7A12-4C59-B684-EC76E1260722}" type="datetime1">
              <a:rPr lang="en-US" smtClean="0"/>
              <a:t>10/30/2025</a:t>
            </a:fld>
            <a:endParaRPr lang="en-US" dirty="0"/>
          </a:p>
        </p:txBody>
      </p:sp>
      <p:sp>
        <p:nvSpPr>
          <p:cNvPr id="6" name="Footer Placeholder 5"/>
          <p:cNvSpPr>
            <a:spLocks noGrp="1"/>
          </p:cNvSpPr>
          <p:nvPr>
            <p:ph type="ftr" sz="quarter" idx="11"/>
          </p:nvPr>
        </p:nvSpPr>
        <p:spPr/>
        <p:txBody>
          <a:bodyPr/>
          <a:lstStyle/>
          <a:p>
            <a:r>
              <a:rPr lang="en-US"/>
              <a:t>Prepared by Deepali Sonawane, MIT-WPU, Pune</a:t>
            </a:r>
            <a:endParaRPr lang="en-US" dirty="0"/>
          </a:p>
        </p:txBody>
      </p:sp>
      <p:sp>
        <p:nvSpPr>
          <p:cNvPr id="7" name="Slide Number Placeholder 6"/>
          <p:cNvSpPr>
            <a:spLocks noGrp="1"/>
          </p:cNvSpPr>
          <p:nvPr>
            <p:ph type="sldNum" sz="quarter" idx="12"/>
          </p:nvPr>
        </p:nvSpPr>
        <p:spPr/>
        <p:txBody>
          <a:bodyPr/>
          <a:lstStyle/>
          <a:p>
            <a:fld id="{780B840B-8440-491F-9B6D-9775EAACA548}" type="slidenum">
              <a:rPr lang="en-US" smtClean="0"/>
              <a:pPr/>
              <a:t>‹#›</a:t>
            </a:fld>
            <a:endParaRPr lang="en-US" dirty="0"/>
          </a:p>
        </p:txBody>
      </p:sp>
      <p:sp>
        <p:nvSpPr>
          <p:cNvPr id="9" name="Content Placeholder 8"/>
          <p:cNvSpPr>
            <a:spLocks noGrp="1"/>
          </p:cNvSpPr>
          <p:nvPr>
            <p:ph sz="quarter" idx="1"/>
          </p:nvPr>
        </p:nvSpPr>
        <p:spPr>
          <a:xfrm>
            <a:off x="1219200" y="1447800"/>
            <a:ext cx="499872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578600" y="1447800"/>
            <a:ext cx="499872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19200" y="273050"/>
            <a:ext cx="103632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1219200" y="1447800"/>
            <a:ext cx="49784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604000" y="1447800"/>
            <a:ext cx="49784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AE7086F7-B12C-4832-AF2B-44F7FF34A857}" type="datetime1">
              <a:rPr lang="en-US" smtClean="0"/>
              <a:t>10/30/2025</a:t>
            </a:fld>
            <a:endParaRPr lang="en-US" dirty="0"/>
          </a:p>
        </p:txBody>
      </p:sp>
      <p:sp>
        <p:nvSpPr>
          <p:cNvPr id="8" name="Footer Placeholder 7"/>
          <p:cNvSpPr>
            <a:spLocks noGrp="1"/>
          </p:cNvSpPr>
          <p:nvPr>
            <p:ph type="ftr" sz="quarter" idx="11"/>
          </p:nvPr>
        </p:nvSpPr>
        <p:spPr/>
        <p:txBody>
          <a:bodyPr/>
          <a:lstStyle/>
          <a:p>
            <a:r>
              <a:rPr lang="en-US"/>
              <a:t>Prepared by Deepali Sonawane, MIT-WPU, Pune</a:t>
            </a:r>
            <a:endParaRPr lang="en-US" dirty="0"/>
          </a:p>
        </p:txBody>
      </p:sp>
      <p:sp>
        <p:nvSpPr>
          <p:cNvPr id="9" name="Slide Number Placeholder 8"/>
          <p:cNvSpPr>
            <a:spLocks noGrp="1"/>
          </p:cNvSpPr>
          <p:nvPr>
            <p:ph type="sldNum" sz="quarter" idx="12"/>
          </p:nvPr>
        </p:nvSpPr>
        <p:spPr/>
        <p:txBody>
          <a:bodyPr/>
          <a:lstStyle/>
          <a:p>
            <a:fld id="{780B840B-8440-491F-9B6D-9775EAACA548}" type="slidenum">
              <a:rPr lang="en-US" smtClean="0"/>
              <a:pPr/>
              <a:t>‹#›</a:t>
            </a:fld>
            <a:endParaRPr lang="en-US" dirty="0"/>
          </a:p>
        </p:txBody>
      </p:sp>
      <p:sp>
        <p:nvSpPr>
          <p:cNvPr id="11" name="Content Placeholder 10"/>
          <p:cNvSpPr>
            <a:spLocks noGrp="1"/>
          </p:cNvSpPr>
          <p:nvPr>
            <p:ph sz="half" idx="2"/>
          </p:nvPr>
        </p:nvSpPr>
        <p:spPr>
          <a:xfrm>
            <a:off x="1219200" y="2247900"/>
            <a:ext cx="49784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6604000" y="2247900"/>
            <a:ext cx="49784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19F8D9A6-886B-44D7-B306-543C253DC554}" type="datetime1">
              <a:rPr lang="en-US" smtClean="0"/>
              <a:t>10/30/2025</a:t>
            </a:fld>
            <a:endParaRPr lang="en-US" dirty="0"/>
          </a:p>
        </p:txBody>
      </p:sp>
      <p:sp>
        <p:nvSpPr>
          <p:cNvPr id="4" name="Footer Placeholder 3"/>
          <p:cNvSpPr>
            <a:spLocks noGrp="1"/>
          </p:cNvSpPr>
          <p:nvPr>
            <p:ph type="ftr" sz="quarter" idx="11"/>
          </p:nvPr>
        </p:nvSpPr>
        <p:spPr/>
        <p:txBody>
          <a:bodyPr/>
          <a:lstStyle/>
          <a:p>
            <a:r>
              <a:rPr lang="en-US"/>
              <a:t>Prepared by Deepali Sonawane, MIT-WPU, Pune</a:t>
            </a:r>
            <a:endParaRPr lang="en-US" dirty="0"/>
          </a:p>
        </p:txBody>
      </p:sp>
      <p:sp>
        <p:nvSpPr>
          <p:cNvPr id="5" name="Slide Number Placeholder 4"/>
          <p:cNvSpPr>
            <a:spLocks noGrp="1"/>
          </p:cNvSpPr>
          <p:nvPr>
            <p:ph type="sldNum" sz="quarter" idx="12"/>
          </p:nvPr>
        </p:nvSpPr>
        <p:spPr/>
        <p:txBody>
          <a:bodyPr/>
          <a:lstStyle/>
          <a:p>
            <a:fld id="{780B840B-8440-491F-9B6D-9775EAACA548}"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23D1BC7-E021-4CFA-947C-7385C83B1808}" type="datetime1">
              <a:rPr lang="en-US" smtClean="0"/>
              <a:t>10/30/2025</a:t>
            </a:fld>
            <a:endParaRPr lang="en-US" dirty="0"/>
          </a:p>
        </p:txBody>
      </p:sp>
      <p:sp>
        <p:nvSpPr>
          <p:cNvPr id="3" name="Footer Placeholder 2"/>
          <p:cNvSpPr>
            <a:spLocks noGrp="1"/>
          </p:cNvSpPr>
          <p:nvPr>
            <p:ph type="ftr" sz="quarter" idx="11"/>
          </p:nvPr>
        </p:nvSpPr>
        <p:spPr/>
        <p:txBody>
          <a:bodyPr/>
          <a:lstStyle/>
          <a:p>
            <a:r>
              <a:rPr lang="en-US"/>
              <a:t>Prepared by Deepali Sonawane, MIT-WPU, Pune</a:t>
            </a:r>
            <a:endParaRPr lang="en-US" dirty="0"/>
          </a:p>
        </p:txBody>
      </p:sp>
      <p:sp>
        <p:nvSpPr>
          <p:cNvPr id="4" name="Slide Number Placeholder 3"/>
          <p:cNvSpPr>
            <a:spLocks noGrp="1"/>
          </p:cNvSpPr>
          <p:nvPr>
            <p:ph type="sldNum" sz="quarter" idx="12"/>
          </p:nvPr>
        </p:nvSpPr>
        <p:spPr/>
        <p:txBody>
          <a:bodyPr/>
          <a:lstStyle/>
          <a:p>
            <a:fld id="{780B840B-8440-491F-9B6D-9775EAACA548}"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12192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219200" y="273050"/>
            <a:ext cx="103632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1219200" y="1600200"/>
            <a:ext cx="2540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2B952B0F-9C65-4066-9944-231E63409950}" type="datetime1">
              <a:rPr lang="en-US" smtClean="0"/>
              <a:t>10/30/2025</a:t>
            </a:fld>
            <a:endParaRPr lang="en-US" dirty="0"/>
          </a:p>
        </p:txBody>
      </p:sp>
      <p:sp>
        <p:nvSpPr>
          <p:cNvPr id="6" name="Footer Placeholder 5"/>
          <p:cNvSpPr>
            <a:spLocks noGrp="1"/>
          </p:cNvSpPr>
          <p:nvPr>
            <p:ph type="ftr" sz="quarter" idx="11"/>
          </p:nvPr>
        </p:nvSpPr>
        <p:spPr/>
        <p:txBody>
          <a:bodyPr/>
          <a:lstStyle/>
          <a:p>
            <a:r>
              <a:rPr lang="en-US"/>
              <a:t>Prepared by Deepali Sonawane, MIT-WPU, Pune</a:t>
            </a:r>
            <a:endParaRPr lang="en-US" dirty="0"/>
          </a:p>
        </p:txBody>
      </p:sp>
      <p:sp>
        <p:nvSpPr>
          <p:cNvPr id="7" name="Slide Number Placeholder 6"/>
          <p:cNvSpPr>
            <a:spLocks noGrp="1"/>
          </p:cNvSpPr>
          <p:nvPr>
            <p:ph type="sldNum" sz="quarter" idx="12"/>
          </p:nvPr>
        </p:nvSpPr>
        <p:spPr/>
        <p:txBody>
          <a:bodyPr/>
          <a:lstStyle/>
          <a:p>
            <a:fld id="{780B840B-8440-491F-9B6D-9775EAACA548}" type="slidenum">
              <a:rPr lang="en-US" smtClean="0"/>
              <a:pPr/>
              <a:t>‹#›</a:t>
            </a:fld>
            <a:endParaRPr lang="en-US" dirty="0"/>
          </a:p>
        </p:txBody>
      </p:sp>
      <p:sp>
        <p:nvSpPr>
          <p:cNvPr id="11" name="Content Placeholder 10"/>
          <p:cNvSpPr>
            <a:spLocks noGrp="1"/>
          </p:cNvSpPr>
          <p:nvPr>
            <p:ph sz="quarter" idx="1"/>
          </p:nvPr>
        </p:nvSpPr>
        <p:spPr>
          <a:xfrm>
            <a:off x="3962400" y="1600200"/>
            <a:ext cx="7620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9200" y="4900550"/>
            <a:ext cx="97536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1219200" y="5445825"/>
            <a:ext cx="97536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B184BFCA-E9F0-4A1F-8DFA-311526557F38}" type="datetime1">
              <a:rPr lang="en-US" smtClean="0"/>
              <a:t>10/30/2025</a:t>
            </a:fld>
            <a:endParaRPr lang="en-US" dirty="0"/>
          </a:p>
        </p:txBody>
      </p:sp>
      <p:sp>
        <p:nvSpPr>
          <p:cNvPr id="6" name="Footer Placeholder 5"/>
          <p:cNvSpPr>
            <a:spLocks noGrp="1"/>
          </p:cNvSpPr>
          <p:nvPr>
            <p:ph type="ftr" sz="quarter" idx="11"/>
          </p:nvPr>
        </p:nvSpPr>
        <p:spPr>
          <a:xfrm>
            <a:off x="1219200" y="6172200"/>
            <a:ext cx="5181600" cy="457200"/>
          </a:xfrm>
        </p:spPr>
        <p:txBody>
          <a:bodyPr/>
          <a:lstStyle/>
          <a:p>
            <a:r>
              <a:rPr lang="en-US"/>
              <a:t>Prepared by Deepali Sonawane, MIT-WPU, Pune</a:t>
            </a:r>
            <a:endParaRPr lang="en-US" dirty="0"/>
          </a:p>
        </p:txBody>
      </p:sp>
      <p:sp>
        <p:nvSpPr>
          <p:cNvPr id="7" name="Slide Number Placeholder 6"/>
          <p:cNvSpPr>
            <a:spLocks noGrp="1"/>
          </p:cNvSpPr>
          <p:nvPr>
            <p:ph type="sldNum" sz="quarter" idx="12"/>
          </p:nvPr>
        </p:nvSpPr>
        <p:spPr>
          <a:xfrm>
            <a:off x="195072" y="6208776"/>
            <a:ext cx="609600" cy="457200"/>
          </a:xfrm>
        </p:spPr>
        <p:txBody>
          <a:bodyPr/>
          <a:lstStyle/>
          <a:p>
            <a:fld id="{780B840B-8440-491F-9B6D-9775EAACA548}" type="slidenum">
              <a:rPr lang="en-US" smtClean="0"/>
              <a:pPr/>
              <a:t>‹#›</a:t>
            </a:fld>
            <a:endParaRPr lang="en-US" dirty="0"/>
          </a:p>
        </p:txBody>
      </p:sp>
      <p:sp>
        <p:nvSpPr>
          <p:cNvPr id="11" name="Rectangle 10"/>
          <p:cNvSpPr/>
          <p:nvPr/>
        </p:nvSpPr>
        <p:spPr>
          <a:xfrm flipV="1">
            <a:off x="91076" y="4683555"/>
            <a:ext cx="120091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91345" y="4650475"/>
            <a:ext cx="12008852"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91348" y="4773225"/>
            <a:ext cx="12008849"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91078" y="66676"/>
            <a:ext cx="12002497"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FB7B65E7-042C-4049-9C9A-006818E7086A}" type="datetime1">
              <a:rPr lang="en-US" smtClean="0"/>
              <a:t>10/30/2025</a:t>
            </a:fld>
            <a:endParaRPr lang="en-US" dirty="0"/>
          </a:p>
        </p:txBody>
      </p:sp>
      <p:sp>
        <p:nvSpPr>
          <p:cNvPr id="5" name="Footer Placeholder 4"/>
          <p:cNvSpPr>
            <a:spLocks noGrp="1"/>
          </p:cNvSpPr>
          <p:nvPr>
            <p:ph type="ftr" sz="quarter" idx="11"/>
          </p:nvPr>
        </p:nvSpPr>
        <p:spPr/>
        <p:txBody>
          <a:bodyPr/>
          <a:lstStyle/>
          <a:p>
            <a:r>
              <a:rPr lang="en-US"/>
              <a:t>Prepared by Deepali Sonawane, MIT-WPU, Pune</a:t>
            </a:r>
            <a:endParaRPr lang="en-US" dirty="0"/>
          </a:p>
        </p:txBody>
      </p:sp>
      <p:sp>
        <p:nvSpPr>
          <p:cNvPr id="6" name="Slide Number Placeholder 5"/>
          <p:cNvSpPr>
            <a:spLocks noGrp="1"/>
          </p:cNvSpPr>
          <p:nvPr>
            <p:ph type="sldNum" sz="quarter" idx="12"/>
          </p:nvPr>
        </p:nvSpPr>
        <p:spPr/>
        <p:txBody>
          <a:bodyPr/>
          <a:lstStyle/>
          <a:p>
            <a:fld id="{780B840B-8440-491F-9B6D-9775EAACA548}"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2"/>
            <a:ext cx="268224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219200" y="274641"/>
            <a:ext cx="7416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9C79674-2767-475A-8AA0-2E2138127DA1}" type="datetime1">
              <a:rPr lang="en-US" smtClean="0"/>
              <a:t>10/30/2025</a:t>
            </a:fld>
            <a:endParaRPr lang="en-US" dirty="0"/>
          </a:p>
        </p:txBody>
      </p:sp>
      <p:sp>
        <p:nvSpPr>
          <p:cNvPr id="5" name="Footer Placeholder 4"/>
          <p:cNvSpPr>
            <a:spLocks noGrp="1"/>
          </p:cNvSpPr>
          <p:nvPr>
            <p:ph type="ftr" sz="quarter" idx="11"/>
          </p:nvPr>
        </p:nvSpPr>
        <p:spPr/>
        <p:txBody>
          <a:bodyPr/>
          <a:lstStyle/>
          <a:p>
            <a:r>
              <a:rPr lang="en-US"/>
              <a:t>Prepared by Deepali Sonawane, MIT-WPU, Pune</a:t>
            </a:r>
            <a:endParaRPr lang="en-US" dirty="0"/>
          </a:p>
        </p:txBody>
      </p:sp>
      <p:sp>
        <p:nvSpPr>
          <p:cNvPr id="6" name="Slide Number Placeholder 5"/>
          <p:cNvSpPr>
            <a:spLocks noGrp="1"/>
          </p:cNvSpPr>
          <p:nvPr>
            <p:ph type="sldNum" sz="quarter" idx="12"/>
          </p:nvPr>
        </p:nvSpPr>
        <p:spPr/>
        <p:txBody>
          <a:bodyPr/>
          <a:lstStyle/>
          <a:p>
            <a:fld id="{780B840B-8440-491F-9B6D-9775EAACA548}"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1219200" y="274638"/>
            <a:ext cx="103632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1219200" y="1447800"/>
            <a:ext cx="103632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229600" y="6191250"/>
            <a:ext cx="3302000" cy="476250"/>
          </a:xfrm>
          <a:prstGeom prst="rect">
            <a:avLst/>
          </a:prstGeom>
        </p:spPr>
        <p:txBody>
          <a:bodyPr anchor="ctr" anchorCtr="0"/>
          <a:lstStyle>
            <a:lvl1pPr algn="r" eaLnBrk="1" latinLnBrk="0" hangingPunct="1">
              <a:defRPr kumimoji="0" sz="1400">
                <a:solidFill>
                  <a:schemeClr val="tx2"/>
                </a:solidFill>
              </a:defRPr>
            </a:lvl1pPr>
          </a:lstStyle>
          <a:p>
            <a:fld id="{A21901E8-360D-4396-AC97-76A24BD0297D}" type="datetime1">
              <a:rPr lang="en-US" smtClean="0"/>
              <a:t>10/30/2025</a:t>
            </a:fld>
            <a:endParaRPr lang="en-US" dirty="0"/>
          </a:p>
        </p:txBody>
      </p:sp>
      <p:sp>
        <p:nvSpPr>
          <p:cNvPr id="3" name="Footer Placeholder 2"/>
          <p:cNvSpPr>
            <a:spLocks noGrp="1"/>
          </p:cNvSpPr>
          <p:nvPr>
            <p:ph type="ftr" sz="quarter" idx="3"/>
          </p:nvPr>
        </p:nvSpPr>
        <p:spPr>
          <a:xfrm>
            <a:off x="1219200" y="6172200"/>
            <a:ext cx="5283200" cy="457200"/>
          </a:xfrm>
          <a:prstGeom prst="rect">
            <a:avLst/>
          </a:prstGeom>
        </p:spPr>
        <p:txBody>
          <a:bodyPr anchor="ctr" anchorCtr="0"/>
          <a:lstStyle>
            <a:lvl1pPr eaLnBrk="1" latinLnBrk="0" hangingPunct="1">
              <a:defRPr kumimoji="0" sz="1400">
                <a:solidFill>
                  <a:schemeClr val="tx2"/>
                </a:solidFill>
              </a:defRPr>
            </a:lvl1pPr>
          </a:lstStyle>
          <a:p>
            <a:r>
              <a:rPr lang="en-US"/>
              <a:t>Prepared by Deepali Sonawane, MIT-WPU, Pune</a:t>
            </a:r>
            <a:endParaRPr lang="en-US" dirty="0"/>
          </a:p>
        </p:txBody>
      </p:sp>
      <p:sp>
        <p:nvSpPr>
          <p:cNvPr id="23" name="Slide Number Placeholder 22"/>
          <p:cNvSpPr>
            <a:spLocks noGrp="1"/>
          </p:cNvSpPr>
          <p:nvPr>
            <p:ph type="sldNum" sz="quarter" idx="4"/>
          </p:nvPr>
        </p:nvSpPr>
        <p:spPr>
          <a:xfrm>
            <a:off x="195072" y="6210300"/>
            <a:ext cx="6096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780B840B-8440-491F-9B6D-9775EAACA548}"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431236"/>
            <a:ext cx="12192000" cy="1577008"/>
          </a:xfrm>
        </p:spPr>
        <p:txBody>
          <a:bodyPr>
            <a:noAutofit/>
          </a:bodyPr>
          <a:lstStyle/>
          <a:p>
            <a:r>
              <a:rPr lang="en-US" dirty="0">
                <a:latin typeface="Times New Roman" panose="02020603050405020304" pitchFamily="18" charset="0"/>
                <a:cs typeface="Times New Roman" panose="02020603050405020304" pitchFamily="18" charset="0"/>
              </a:rPr>
              <a:t>Chapter 4 : Introduction to Object Oriented Programming</a:t>
            </a:r>
            <a:endParaRPr lang="en-IN" dirty="0">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36B6D316-60C1-4958-A51A-AD26F5299A50}"/>
              </a:ext>
            </a:extLst>
          </p:cNvPr>
          <p:cNvSpPr>
            <a:spLocks noGrp="1"/>
          </p:cNvSpPr>
          <p:nvPr>
            <p:ph type="ftr" sz="quarter" idx="11"/>
          </p:nvPr>
        </p:nvSpPr>
        <p:spPr/>
        <p:txBody>
          <a:bodyPr/>
          <a:lstStyle/>
          <a:p>
            <a:r>
              <a:rPr lang="en-US"/>
              <a:t>Prepared by Deepali Sonawane, MIT-WPU, Pune</a:t>
            </a:r>
            <a:endParaRPr lang="en-US" dirty="0"/>
          </a:p>
        </p:txBody>
      </p:sp>
    </p:spTree>
    <p:extLst>
      <p:ext uri="{BB962C8B-B14F-4D97-AF65-F5344CB8AC3E}">
        <p14:creationId xmlns:p14="http://schemas.microsoft.com/office/powerpoint/2010/main" val="23338697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74638"/>
            <a:ext cx="10363200" cy="626699"/>
          </a:xfrm>
        </p:spPr>
        <p:txBody>
          <a:bodyPr>
            <a:normAutofit fontScale="90000"/>
          </a:bodyPr>
          <a:lstStyle/>
          <a:p>
            <a:r>
              <a:rPr lang="en-US" b="1" dirty="0"/>
              <a:t>What is OOP?</a:t>
            </a:r>
            <a:endParaRPr lang="en-IN" b="1" dirty="0"/>
          </a:p>
        </p:txBody>
      </p:sp>
      <p:sp>
        <p:nvSpPr>
          <p:cNvPr id="3" name="Content Placeholder 2"/>
          <p:cNvSpPr>
            <a:spLocks noGrp="1"/>
          </p:cNvSpPr>
          <p:nvPr>
            <p:ph sz="quarter" idx="1"/>
          </p:nvPr>
        </p:nvSpPr>
        <p:spPr>
          <a:xfrm>
            <a:off x="1180011" y="1042850"/>
            <a:ext cx="10363200" cy="5240383"/>
          </a:xfrm>
        </p:spPr>
        <p:txBody>
          <a:bodyPr/>
          <a:lstStyle/>
          <a:p>
            <a:r>
              <a:rPr lang="en-US" dirty="0"/>
              <a:t>OOP stands for </a:t>
            </a:r>
            <a:r>
              <a:rPr lang="en-US" b="1" dirty="0"/>
              <a:t>Object Oriented Programming</a:t>
            </a:r>
            <a:r>
              <a:rPr lang="en-US" dirty="0"/>
              <a:t>.</a:t>
            </a:r>
          </a:p>
          <a:p>
            <a:r>
              <a:rPr lang="en-IN" dirty="0"/>
              <a:t>Procedural programming is about writing </a:t>
            </a:r>
            <a:r>
              <a:rPr lang="en-IN" b="1" dirty="0"/>
              <a:t>procedures or functions </a:t>
            </a:r>
            <a:r>
              <a:rPr lang="en-IN" dirty="0"/>
              <a:t>that perform operations on the data, while object-oriented programming is about creating </a:t>
            </a:r>
            <a:r>
              <a:rPr lang="en-IN" b="1" dirty="0"/>
              <a:t>objects</a:t>
            </a:r>
            <a:r>
              <a:rPr lang="en-IN" dirty="0"/>
              <a:t> that contain both </a:t>
            </a:r>
            <a:r>
              <a:rPr lang="en-IN" b="1" dirty="0"/>
              <a:t>data and functions</a:t>
            </a:r>
            <a:r>
              <a:rPr lang="en-IN" dirty="0"/>
              <a:t>.</a:t>
            </a:r>
          </a:p>
          <a:p>
            <a:r>
              <a:rPr lang="en-US" b="1" dirty="0"/>
              <a:t>Advantages</a:t>
            </a:r>
            <a:r>
              <a:rPr lang="en-US" dirty="0"/>
              <a:t> of Object-Oriented Programming:</a:t>
            </a:r>
          </a:p>
          <a:p>
            <a:pPr marL="777240" lvl="1" indent="-457200">
              <a:buFont typeface="+mj-lt"/>
              <a:buAutoNum type="arabicPeriod"/>
            </a:pPr>
            <a:r>
              <a:rPr lang="en-US" dirty="0"/>
              <a:t>Focus is on data rather than procedures or functions.</a:t>
            </a:r>
          </a:p>
          <a:p>
            <a:pPr marL="777240" lvl="1" indent="-457200">
              <a:buFont typeface="+mj-lt"/>
              <a:buAutoNum type="arabicPeriod"/>
            </a:pPr>
            <a:r>
              <a:rPr lang="en-US" dirty="0"/>
              <a:t>OOP is </a:t>
            </a:r>
            <a:r>
              <a:rPr lang="en-IN" dirty="0"/>
              <a:t>faster and easier to execute</a:t>
            </a:r>
          </a:p>
          <a:p>
            <a:pPr marL="777240" lvl="1" indent="-457200">
              <a:buFont typeface="+mj-lt"/>
              <a:buAutoNum type="arabicPeriod"/>
            </a:pPr>
            <a:r>
              <a:rPr lang="en-IN" dirty="0"/>
              <a:t>OOP provides a clear structure for the programs</a:t>
            </a:r>
          </a:p>
          <a:p>
            <a:pPr marL="777240" lvl="1" indent="-457200">
              <a:buFont typeface="+mj-lt"/>
              <a:buAutoNum type="arabicPeriod"/>
            </a:pPr>
            <a:r>
              <a:rPr lang="en-US" dirty="0"/>
              <a:t>OOP </a:t>
            </a:r>
            <a:r>
              <a:rPr lang="en-IN" dirty="0"/>
              <a:t>makes the code easier to maintain, modify and debug</a:t>
            </a:r>
          </a:p>
          <a:p>
            <a:pPr marL="777240" lvl="1" indent="-457200">
              <a:buFont typeface="+mj-lt"/>
              <a:buAutoNum type="arabicPeriod"/>
            </a:pPr>
            <a:r>
              <a:rPr lang="en-IN" dirty="0"/>
              <a:t>OOP makes it possible to create full reusable applications with less code and shorter development time</a:t>
            </a:r>
            <a:endParaRPr lang="en-US" dirty="0"/>
          </a:p>
          <a:p>
            <a:pPr marL="777240" lvl="1" indent="-457200">
              <a:buFont typeface="+mj-lt"/>
              <a:buAutoNum type="arabicPeriod"/>
            </a:pPr>
            <a:endParaRPr lang="en-US" dirty="0"/>
          </a:p>
          <a:p>
            <a:endParaRPr lang="en-US" dirty="0"/>
          </a:p>
          <a:p>
            <a:pPr>
              <a:buNone/>
            </a:pPr>
            <a:endParaRPr lang="en-US" dirty="0"/>
          </a:p>
          <a:p>
            <a:pPr>
              <a:buNone/>
            </a:pPr>
            <a:endParaRPr lang="en-IN" dirty="0"/>
          </a:p>
          <a:p>
            <a:endParaRPr lang="en-IN" dirty="0"/>
          </a:p>
        </p:txBody>
      </p:sp>
      <p:sp>
        <p:nvSpPr>
          <p:cNvPr id="4" name="Footer Placeholder 3">
            <a:extLst>
              <a:ext uri="{FF2B5EF4-FFF2-40B4-BE49-F238E27FC236}">
                <a16:creationId xmlns:a16="http://schemas.microsoft.com/office/drawing/2014/main" id="{CF149AE6-66EC-4CDF-8E35-6C783877700F}"/>
              </a:ext>
            </a:extLst>
          </p:cNvPr>
          <p:cNvSpPr>
            <a:spLocks noGrp="1"/>
          </p:cNvSpPr>
          <p:nvPr>
            <p:ph type="ftr" sz="quarter" idx="11"/>
          </p:nvPr>
        </p:nvSpPr>
        <p:spPr/>
        <p:txBody>
          <a:bodyPr/>
          <a:lstStyle/>
          <a:p>
            <a:r>
              <a:rPr lang="en-US"/>
              <a:t>Prepared by Deepali Sonawane, MIT-WPU, Pune</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74638"/>
            <a:ext cx="10363200" cy="626699"/>
          </a:xfrm>
        </p:spPr>
        <p:txBody>
          <a:bodyPr>
            <a:normAutofit fontScale="90000"/>
          </a:bodyPr>
          <a:lstStyle/>
          <a:p>
            <a:r>
              <a:rPr lang="en-US" b="1" dirty="0"/>
              <a:t>Object Oriented Concepts</a:t>
            </a:r>
            <a:endParaRPr lang="en-IN" b="1" dirty="0"/>
          </a:p>
        </p:txBody>
      </p:sp>
      <p:sp>
        <p:nvSpPr>
          <p:cNvPr id="3" name="Content Placeholder 2"/>
          <p:cNvSpPr>
            <a:spLocks noGrp="1"/>
          </p:cNvSpPr>
          <p:nvPr>
            <p:ph sz="quarter" idx="1"/>
          </p:nvPr>
        </p:nvSpPr>
        <p:spPr>
          <a:xfrm>
            <a:off x="1180011" y="1042850"/>
            <a:ext cx="10363200" cy="5240383"/>
          </a:xfrm>
        </p:spPr>
        <p:txBody>
          <a:bodyPr>
            <a:normAutofit fontScale="92500" lnSpcReduction="10000"/>
          </a:bodyPr>
          <a:lstStyle/>
          <a:p>
            <a:r>
              <a:rPr lang="en-US" b="1" dirty="0"/>
              <a:t>Class:</a:t>
            </a:r>
            <a:r>
              <a:rPr lang="en-US" dirty="0"/>
              <a:t> </a:t>
            </a:r>
            <a:r>
              <a:rPr lang="en-IN" dirty="0"/>
              <a:t>This is a user-defined data type, which consists of data members and member functions.</a:t>
            </a:r>
          </a:p>
          <a:p>
            <a:r>
              <a:rPr lang="en-US" b="1" dirty="0"/>
              <a:t>Object: </a:t>
            </a:r>
            <a:r>
              <a:rPr lang="en-US" dirty="0"/>
              <a:t>It is an instance of the class.</a:t>
            </a:r>
          </a:p>
          <a:p>
            <a:r>
              <a:rPr lang="en-IN" b="1" dirty="0"/>
              <a:t>Inheritance: </a:t>
            </a:r>
            <a:r>
              <a:rPr lang="en-IN" dirty="0"/>
              <a:t>When a class is defined by inheriting existing function of a parent class then it is called inheritance. Here child class will inherit all or few member functions and variables of a parent class.</a:t>
            </a:r>
          </a:p>
          <a:p>
            <a:r>
              <a:rPr lang="en-US" b="1" dirty="0"/>
              <a:t>Polymorphism: </a:t>
            </a:r>
            <a:r>
              <a:rPr lang="en-IN" dirty="0"/>
              <a:t>This is an object oriented concept where same function can be used for different purposes. For example function name will remain same but it take different number of arguments and can do different task.</a:t>
            </a:r>
          </a:p>
          <a:p>
            <a:r>
              <a:rPr lang="en-US" b="1" dirty="0"/>
              <a:t>Data Abstraction: </a:t>
            </a:r>
            <a:r>
              <a:rPr lang="en-US" dirty="0"/>
              <a:t>Data Abstraction</a:t>
            </a:r>
            <a:r>
              <a:rPr lang="en-IN" dirty="0"/>
              <a:t> refers to the act of representing essential features without including the background details or explanations.  Any representation of data in which the implementation details are abstracted.</a:t>
            </a:r>
          </a:p>
          <a:p>
            <a:r>
              <a:rPr lang="en-US" b="1" dirty="0"/>
              <a:t>Encapsulation: </a:t>
            </a:r>
            <a:r>
              <a:rPr lang="en-US" dirty="0"/>
              <a:t>The binding of data and functions into single unit is called as encapsulation</a:t>
            </a:r>
            <a:r>
              <a:rPr lang="en-IN" dirty="0"/>
              <a:t>.</a:t>
            </a:r>
            <a:endParaRPr lang="en-US" b="1" dirty="0"/>
          </a:p>
          <a:p>
            <a:pPr marL="777240" lvl="1" indent="-457200">
              <a:buFont typeface="+mj-lt"/>
              <a:buAutoNum type="arabicPeriod"/>
            </a:pPr>
            <a:endParaRPr lang="en-US" dirty="0"/>
          </a:p>
          <a:p>
            <a:endParaRPr lang="en-US" dirty="0"/>
          </a:p>
          <a:p>
            <a:pPr>
              <a:buNone/>
            </a:pPr>
            <a:endParaRPr lang="en-US" dirty="0"/>
          </a:p>
          <a:p>
            <a:pPr>
              <a:buNone/>
            </a:pPr>
            <a:endParaRPr lang="en-IN" dirty="0"/>
          </a:p>
          <a:p>
            <a:endParaRPr lang="en-IN" dirty="0"/>
          </a:p>
        </p:txBody>
      </p:sp>
      <p:sp>
        <p:nvSpPr>
          <p:cNvPr id="4" name="Footer Placeholder 3">
            <a:extLst>
              <a:ext uri="{FF2B5EF4-FFF2-40B4-BE49-F238E27FC236}">
                <a16:creationId xmlns:a16="http://schemas.microsoft.com/office/drawing/2014/main" id="{7C9131DD-E60F-4998-ABF1-ED1F29C59AF2}"/>
              </a:ext>
            </a:extLst>
          </p:cNvPr>
          <p:cNvSpPr>
            <a:spLocks noGrp="1"/>
          </p:cNvSpPr>
          <p:nvPr>
            <p:ph type="ftr" sz="quarter" idx="11"/>
          </p:nvPr>
        </p:nvSpPr>
        <p:spPr/>
        <p:txBody>
          <a:bodyPr/>
          <a:lstStyle/>
          <a:p>
            <a:r>
              <a:rPr lang="en-US"/>
              <a:t>Prepared by Deepali Sonawane, MIT-WPU, Pune</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74638"/>
            <a:ext cx="10363200" cy="626699"/>
          </a:xfrm>
        </p:spPr>
        <p:txBody>
          <a:bodyPr>
            <a:normAutofit fontScale="90000"/>
          </a:bodyPr>
          <a:lstStyle/>
          <a:p>
            <a:r>
              <a:rPr lang="en-US" b="1" dirty="0"/>
              <a:t>Class</a:t>
            </a:r>
            <a:endParaRPr lang="en-IN" b="1" dirty="0"/>
          </a:p>
        </p:txBody>
      </p:sp>
      <p:sp>
        <p:nvSpPr>
          <p:cNvPr id="3" name="Content Placeholder 2"/>
          <p:cNvSpPr>
            <a:spLocks noGrp="1"/>
          </p:cNvSpPr>
          <p:nvPr>
            <p:ph sz="quarter" idx="1"/>
          </p:nvPr>
        </p:nvSpPr>
        <p:spPr>
          <a:xfrm>
            <a:off x="1180011" y="1042850"/>
            <a:ext cx="10363200" cy="5240383"/>
          </a:xfrm>
        </p:spPr>
        <p:txBody>
          <a:bodyPr>
            <a:normAutofit/>
          </a:bodyPr>
          <a:lstStyle/>
          <a:p>
            <a:r>
              <a:rPr lang="en-IN" dirty="0"/>
              <a:t>A class is defined by using the </a:t>
            </a:r>
            <a:r>
              <a:rPr lang="en-IN" b="1" dirty="0"/>
              <a:t>class</a:t>
            </a:r>
            <a:r>
              <a:rPr lang="en-IN" dirty="0"/>
              <a:t> keyword.</a:t>
            </a:r>
          </a:p>
          <a:p>
            <a:r>
              <a:rPr lang="en-IN" dirty="0"/>
              <a:t>Class keyword is followed by the name of the class and a pair of curly brackets {}.</a:t>
            </a:r>
          </a:p>
          <a:p>
            <a:r>
              <a:rPr lang="en-IN" dirty="0"/>
              <a:t>All class properties and methods, we write inside the brackets.</a:t>
            </a:r>
          </a:p>
          <a:p>
            <a:r>
              <a:rPr lang="en-US" dirty="0"/>
              <a:t>Syntax:</a:t>
            </a:r>
          </a:p>
          <a:p>
            <a:pPr>
              <a:buNone/>
            </a:pPr>
            <a:r>
              <a:rPr lang="en-US" dirty="0"/>
              <a:t>	class </a:t>
            </a:r>
            <a:r>
              <a:rPr lang="en-US" dirty="0" err="1"/>
              <a:t>class_name</a:t>
            </a:r>
            <a:endParaRPr lang="en-US" dirty="0"/>
          </a:p>
          <a:p>
            <a:pPr>
              <a:buNone/>
            </a:pPr>
            <a:r>
              <a:rPr lang="en-US" dirty="0"/>
              <a:t>	{</a:t>
            </a:r>
          </a:p>
          <a:p>
            <a:pPr>
              <a:buNone/>
            </a:pPr>
            <a:r>
              <a:rPr lang="en-US" dirty="0"/>
              <a:t>		variable declaration;</a:t>
            </a:r>
          </a:p>
          <a:p>
            <a:pPr>
              <a:buNone/>
            </a:pPr>
            <a:r>
              <a:rPr lang="en-US" dirty="0"/>
              <a:t>		function definition;</a:t>
            </a:r>
          </a:p>
          <a:p>
            <a:pPr>
              <a:buNone/>
            </a:pPr>
            <a:r>
              <a:rPr lang="en-US" dirty="0"/>
              <a:t>	}</a:t>
            </a:r>
          </a:p>
          <a:p>
            <a:pPr>
              <a:buNone/>
            </a:pPr>
            <a:endParaRPr lang="en-US" dirty="0"/>
          </a:p>
          <a:p>
            <a:pPr>
              <a:buNone/>
            </a:pPr>
            <a:endParaRPr lang="en-IN" dirty="0"/>
          </a:p>
          <a:p>
            <a:endParaRPr lang="en-IN" dirty="0"/>
          </a:p>
        </p:txBody>
      </p:sp>
      <p:sp>
        <p:nvSpPr>
          <p:cNvPr id="5" name="Content Placeholder 2"/>
          <p:cNvSpPr txBox="1">
            <a:spLocks/>
          </p:cNvSpPr>
          <p:nvPr/>
        </p:nvSpPr>
        <p:spPr>
          <a:xfrm>
            <a:off x="6335485" y="2521131"/>
            <a:ext cx="5381897" cy="3483427"/>
          </a:xfrm>
          <a:prstGeom prst="rect">
            <a:avLst/>
          </a:prstGeom>
        </p:spPr>
        <p:txBody>
          <a:bodyPr vert="horz">
            <a:normAutofit fontScale="85000" lnSpcReduction="10000"/>
          </a:bodyPr>
          <a:lstStyle/>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Example</a:t>
            </a: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None/>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class Book</a:t>
            </a: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None/>
              <a:tabLst/>
              <a:defRPr/>
            </a:pPr>
            <a:r>
              <a:rPr lang="en-US" sz="2600" dirty="0"/>
              <a:t>{</a:t>
            </a: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None/>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0" u="none" strike="noStrike" kern="1200" cap="none" spc="0" normalizeH="0" baseline="0" noProof="0" dirty="0" err="1">
                <a:ln>
                  <a:noFill/>
                </a:ln>
                <a:solidFill>
                  <a:schemeClr val="tx1"/>
                </a:solidFill>
                <a:effectLst/>
                <a:uLnTx/>
                <a:uFillTx/>
                <a:latin typeface="+mn-lt"/>
                <a:ea typeface="+mn-ea"/>
                <a:cs typeface="+mn-cs"/>
              </a:rPr>
              <a:t>var</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0" u="none" strike="noStrike" kern="1200" cap="none" spc="0" normalizeH="0" baseline="0" noProof="0" dirty="0" err="1">
                <a:ln>
                  <a:noFill/>
                </a:ln>
                <a:solidFill>
                  <a:schemeClr val="tx1"/>
                </a:solidFill>
                <a:effectLst/>
                <a:uLnTx/>
                <a:uFillTx/>
                <a:latin typeface="+mn-lt"/>
                <a:ea typeface="+mn-ea"/>
                <a:cs typeface="+mn-cs"/>
              </a:rPr>
              <a:t>bname</a:t>
            </a:r>
            <a:r>
              <a:rPr kumimoji="0" lang="en-US" sz="2600" b="0" i="0" u="none" strike="noStrike" kern="1200" cap="none" spc="0" normalizeH="0" baseline="0" noProof="0" dirty="0">
                <a:ln>
                  <a:noFill/>
                </a:ln>
                <a:solidFill>
                  <a:schemeClr val="tx1"/>
                </a:solidFill>
                <a:effectLst/>
                <a:uLnTx/>
                <a:uFillTx/>
                <a:latin typeface="+mn-lt"/>
                <a:ea typeface="+mn-ea"/>
                <a:cs typeface="+mn-cs"/>
              </a:rPr>
              <a:t>;</a:t>
            </a: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None/>
              <a:tabLst/>
              <a:defRPr/>
            </a:pPr>
            <a:r>
              <a:rPr lang="en-US" sz="2600" dirty="0"/>
              <a:t>    function </a:t>
            </a:r>
            <a:r>
              <a:rPr lang="en-US" sz="2600" dirty="0" err="1"/>
              <a:t>setBname</a:t>
            </a:r>
            <a:r>
              <a:rPr lang="en-US" sz="2600" dirty="0"/>
              <a:t>()</a:t>
            </a: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None/>
              <a:tabLst/>
              <a:defRPr/>
            </a:pPr>
            <a:r>
              <a:rPr kumimoji="0" lang="en-US" sz="2600" b="0" i="0" u="none" strike="noStrike" kern="1200" cap="none" spc="0" normalizeH="0" noProof="0" dirty="0">
                <a:ln>
                  <a:noFill/>
                </a:ln>
                <a:solidFill>
                  <a:schemeClr val="tx1"/>
                </a:solidFill>
                <a:effectLst/>
                <a:uLnTx/>
                <a:uFillTx/>
                <a:latin typeface="+mn-lt"/>
                <a:ea typeface="+mn-ea"/>
                <a:cs typeface="+mn-cs"/>
              </a:rPr>
              <a:t>    {</a:t>
            </a: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None/>
              <a:tabLst/>
              <a:defRPr/>
            </a:pPr>
            <a:r>
              <a:rPr lang="en-US" sz="2600" baseline="0" dirty="0"/>
              <a:t>		$this-&gt;</a:t>
            </a:r>
            <a:r>
              <a:rPr lang="en-US" sz="2600" baseline="0" dirty="0" err="1"/>
              <a:t>bname</a:t>
            </a:r>
            <a:r>
              <a:rPr lang="en-US" sz="2600" baseline="0" dirty="0"/>
              <a:t>=“Introduction</a:t>
            </a:r>
            <a:r>
              <a:rPr lang="en-US" sz="2600" dirty="0"/>
              <a:t> to PHP</a:t>
            </a:r>
            <a:r>
              <a:rPr lang="en-US" sz="2600" baseline="0" dirty="0"/>
              <a:t>”;</a:t>
            </a: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None/>
              <a:tabLst/>
              <a:defRPr/>
            </a:pPr>
            <a:r>
              <a:rPr kumimoji="0" lang="en-US" sz="2600" b="0" i="0" u="none" strike="noStrike" kern="1200" cap="none" spc="0" normalizeH="0" noProof="0" dirty="0">
                <a:ln>
                  <a:noFill/>
                </a:ln>
                <a:solidFill>
                  <a:schemeClr val="tx1"/>
                </a:solidFill>
                <a:effectLst/>
                <a:uLnTx/>
                <a:uFillTx/>
                <a:latin typeface="+mn-lt"/>
                <a:ea typeface="+mn-ea"/>
                <a:cs typeface="+mn-cs"/>
              </a:rPr>
              <a:t>     }</a:t>
            </a:r>
            <a:endParaRPr kumimoji="0" lang="en-US"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None/>
              <a:tabLst/>
              <a:defRPr/>
            </a:pPr>
            <a:r>
              <a:rPr lang="en-US" sz="2600" dirty="0"/>
              <a:t>}</a:t>
            </a:r>
            <a:endParaRPr kumimoji="0" lang="en-US"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None/>
              <a:tabLst/>
              <a:defRPr/>
            </a:pPr>
            <a:endParaRPr kumimoji="0" lang="en-IN"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endParaRPr kumimoji="0" lang="en-IN" sz="26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Footer Placeholder 3">
            <a:extLst>
              <a:ext uri="{FF2B5EF4-FFF2-40B4-BE49-F238E27FC236}">
                <a16:creationId xmlns:a16="http://schemas.microsoft.com/office/drawing/2014/main" id="{27637B5F-4119-4ACC-A999-B222F1BC7244}"/>
              </a:ext>
            </a:extLst>
          </p:cNvPr>
          <p:cNvSpPr>
            <a:spLocks noGrp="1"/>
          </p:cNvSpPr>
          <p:nvPr>
            <p:ph type="ftr" sz="quarter" idx="11"/>
          </p:nvPr>
        </p:nvSpPr>
        <p:spPr/>
        <p:txBody>
          <a:bodyPr/>
          <a:lstStyle/>
          <a:p>
            <a:r>
              <a:rPr lang="en-US"/>
              <a:t>Prepared by Deepali Sonawane, MIT-WPU, Pune</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74638"/>
            <a:ext cx="10363200" cy="626699"/>
          </a:xfrm>
        </p:spPr>
        <p:txBody>
          <a:bodyPr>
            <a:normAutofit fontScale="90000"/>
          </a:bodyPr>
          <a:lstStyle/>
          <a:p>
            <a:r>
              <a:rPr lang="en-US" b="1" dirty="0"/>
              <a:t>Object</a:t>
            </a:r>
            <a:endParaRPr lang="en-IN" b="1" dirty="0"/>
          </a:p>
        </p:txBody>
      </p:sp>
      <p:sp>
        <p:nvSpPr>
          <p:cNvPr id="3" name="Content Placeholder 2"/>
          <p:cNvSpPr>
            <a:spLocks noGrp="1"/>
          </p:cNvSpPr>
          <p:nvPr>
            <p:ph sz="quarter" idx="1"/>
          </p:nvPr>
        </p:nvSpPr>
        <p:spPr>
          <a:xfrm>
            <a:off x="1140823" y="912221"/>
            <a:ext cx="10363200" cy="5723710"/>
          </a:xfrm>
        </p:spPr>
        <p:txBody>
          <a:bodyPr>
            <a:normAutofit/>
          </a:bodyPr>
          <a:lstStyle/>
          <a:p>
            <a:r>
              <a:rPr lang="en-US" dirty="0"/>
              <a:t>Object is an </a:t>
            </a:r>
            <a:r>
              <a:rPr lang="en-US" b="1" dirty="0"/>
              <a:t>instance</a:t>
            </a:r>
            <a:r>
              <a:rPr lang="en-US" dirty="0"/>
              <a:t> of the class</a:t>
            </a:r>
            <a:r>
              <a:rPr lang="en-IN" dirty="0"/>
              <a:t>.</a:t>
            </a:r>
          </a:p>
          <a:p>
            <a:r>
              <a:rPr lang="en-IN" dirty="0"/>
              <a:t>We can create </a:t>
            </a:r>
            <a:r>
              <a:rPr lang="en-IN" b="1" dirty="0"/>
              <a:t>multiple objects </a:t>
            </a:r>
            <a:r>
              <a:rPr lang="en-IN" dirty="0"/>
              <a:t>from a class.</a:t>
            </a:r>
          </a:p>
          <a:p>
            <a:r>
              <a:rPr lang="en-IN" dirty="0"/>
              <a:t>Each object has </a:t>
            </a:r>
            <a:r>
              <a:rPr lang="en-IN" b="1" dirty="0"/>
              <a:t>all the properties and methods </a:t>
            </a:r>
            <a:r>
              <a:rPr lang="en-IN" dirty="0"/>
              <a:t>defined in the class, but they will have different property values. </a:t>
            </a:r>
          </a:p>
          <a:p>
            <a:r>
              <a:rPr lang="en-IN" dirty="0"/>
              <a:t>Objects of a class is created using the </a:t>
            </a:r>
            <a:r>
              <a:rPr lang="en-IN" b="1" dirty="0"/>
              <a:t>new</a:t>
            </a:r>
            <a:r>
              <a:rPr lang="en-IN" dirty="0"/>
              <a:t> keyword.</a:t>
            </a:r>
          </a:p>
          <a:p>
            <a:r>
              <a:rPr lang="en-US" dirty="0"/>
              <a:t>Syntax:</a:t>
            </a:r>
          </a:p>
          <a:p>
            <a:pPr>
              <a:buNone/>
            </a:pPr>
            <a:r>
              <a:rPr lang="en-US" dirty="0"/>
              <a:t>	class </a:t>
            </a:r>
            <a:r>
              <a:rPr lang="en-US" dirty="0" err="1"/>
              <a:t>class_name</a:t>
            </a:r>
            <a:endParaRPr lang="en-US" dirty="0"/>
          </a:p>
          <a:p>
            <a:pPr>
              <a:buNone/>
            </a:pPr>
            <a:r>
              <a:rPr lang="en-US" dirty="0"/>
              <a:t>	{</a:t>
            </a:r>
          </a:p>
          <a:p>
            <a:pPr>
              <a:buNone/>
            </a:pPr>
            <a:r>
              <a:rPr lang="en-US" dirty="0"/>
              <a:t>		variable declaration;</a:t>
            </a:r>
          </a:p>
          <a:p>
            <a:pPr>
              <a:buNone/>
            </a:pPr>
            <a:r>
              <a:rPr lang="en-US" dirty="0"/>
              <a:t>		function definition;</a:t>
            </a:r>
          </a:p>
          <a:p>
            <a:pPr>
              <a:buNone/>
            </a:pPr>
            <a:r>
              <a:rPr lang="en-US" dirty="0"/>
              <a:t>	}</a:t>
            </a:r>
          </a:p>
          <a:p>
            <a:pPr>
              <a:buNone/>
            </a:pPr>
            <a:r>
              <a:rPr lang="en-US" dirty="0"/>
              <a:t>    $</a:t>
            </a:r>
            <a:r>
              <a:rPr lang="en-US" dirty="0" err="1"/>
              <a:t>object_name</a:t>
            </a:r>
            <a:r>
              <a:rPr lang="en-US" dirty="0"/>
              <a:t> = new </a:t>
            </a:r>
            <a:r>
              <a:rPr lang="en-US" dirty="0" err="1"/>
              <a:t>class_name</a:t>
            </a:r>
            <a:r>
              <a:rPr lang="en-US" dirty="0"/>
              <a:t>();</a:t>
            </a:r>
          </a:p>
          <a:p>
            <a:pPr>
              <a:buNone/>
            </a:pPr>
            <a:endParaRPr lang="en-US" dirty="0"/>
          </a:p>
          <a:p>
            <a:pPr>
              <a:buNone/>
            </a:pPr>
            <a:endParaRPr lang="en-IN" dirty="0"/>
          </a:p>
          <a:p>
            <a:endParaRPr lang="en-IN" dirty="0"/>
          </a:p>
        </p:txBody>
      </p:sp>
      <p:sp>
        <p:nvSpPr>
          <p:cNvPr id="5" name="Content Placeholder 2"/>
          <p:cNvSpPr txBox="1">
            <a:spLocks/>
          </p:cNvSpPr>
          <p:nvPr/>
        </p:nvSpPr>
        <p:spPr>
          <a:xfrm>
            <a:off x="6361610" y="3252651"/>
            <a:ext cx="5381897" cy="3344092"/>
          </a:xfrm>
          <a:prstGeom prst="rect">
            <a:avLst/>
          </a:prstGeom>
        </p:spPr>
        <p:txBody>
          <a:bodyPr vert="horz">
            <a:normAutofit fontScale="77500" lnSpcReduction="20000"/>
          </a:bodyPr>
          <a:lstStyle/>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Example</a:t>
            </a: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None/>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class Book</a:t>
            </a: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None/>
              <a:tabLst/>
              <a:defRPr/>
            </a:pPr>
            <a:r>
              <a:rPr lang="en-US" sz="2600" dirty="0"/>
              <a:t>{</a:t>
            </a: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None/>
              <a:tabLst/>
              <a:defRPr/>
            </a:pPr>
            <a:r>
              <a:rPr lang="en-US" sz="2600" dirty="0"/>
              <a:t>    public</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0" u="none" strike="noStrike" kern="1200" cap="none" spc="0" normalizeH="0" baseline="0" noProof="0" dirty="0" err="1">
                <a:ln>
                  <a:noFill/>
                </a:ln>
                <a:solidFill>
                  <a:schemeClr val="tx1"/>
                </a:solidFill>
                <a:effectLst/>
                <a:uLnTx/>
                <a:uFillTx/>
                <a:latin typeface="+mn-lt"/>
                <a:ea typeface="+mn-ea"/>
                <a:cs typeface="+mn-cs"/>
              </a:rPr>
              <a:t>bname</a:t>
            </a:r>
            <a:r>
              <a:rPr kumimoji="0" lang="en-US" sz="2600" b="0" i="0" u="none" strike="noStrike" kern="1200" cap="none" spc="0" normalizeH="0" baseline="0" noProof="0" dirty="0">
                <a:ln>
                  <a:noFill/>
                </a:ln>
                <a:solidFill>
                  <a:schemeClr val="tx1"/>
                </a:solidFill>
                <a:effectLst/>
                <a:uLnTx/>
                <a:uFillTx/>
                <a:latin typeface="+mn-lt"/>
                <a:ea typeface="+mn-ea"/>
                <a:cs typeface="+mn-cs"/>
              </a:rPr>
              <a:t>;</a:t>
            </a: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None/>
              <a:tabLst/>
              <a:defRPr/>
            </a:pPr>
            <a:r>
              <a:rPr lang="en-US" sz="2600" dirty="0"/>
              <a:t>    function </a:t>
            </a:r>
            <a:r>
              <a:rPr lang="en-US" sz="2600" dirty="0" err="1"/>
              <a:t>setBname</a:t>
            </a:r>
            <a:r>
              <a:rPr lang="en-US" sz="2600" dirty="0"/>
              <a:t>()</a:t>
            </a: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None/>
              <a:tabLst/>
              <a:defRPr/>
            </a:pPr>
            <a:r>
              <a:rPr kumimoji="0" lang="en-US" sz="2600" b="0" i="0" u="none" strike="noStrike" kern="1200" cap="none" spc="0" normalizeH="0" noProof="0" dirty="0">
                <a:ln>
                  <a:noFill/>
                </a:ln>
                <a:solidFill>
                  <a:schemeClr val="tx1"/>
                </a:solidFill>
                <a:effectLst/>
                <a:uLnTx/>
                <a:uFillTx/>
                <a:latin typeface="+mn-lt"/>
                <a:ea typeface="+mn-ea"/>
                <a:cs typeface="+mn-cs"/>
              </a:rPr>
              <a:t>    {</a:t>
            </a: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None/>
              <a:tabLst/>
              <a:defRPr/>
            </a:pPr>
            <a:r>
              <a:rPr lang="en-US" sz="2600" baseline="0" dirty="0"/>
              <a:t>		$</a:t>
            </a:r>
            <a:r>
              <a:rPr lang="en-US" sz="2600" baseline="0" dirty="0" err="1"/>
              <a:t>bname</a:t>
            </a:r>
            <a:r>
              <a:rPr lang="en-US" sz="2600" baseline="0" dirty="0"/>
              <a:t>=“Introduction</a:t>
            </a:r>
            <a:r>
              <a:rPr lang="en-US" sz="2600" dirty="0"/>
              <a:t> to PHP</a:t>
            </a:r>
            <a:r>
              <a:rPr lang="en-US" sz="2600" baseline="0" dirty="0"/>
              <a:t>”;</a:t>
            </a: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None/>
              <a:tabLst/>
              <a:defRPr/>
            </a:pPr>
            <a:r>
              <a:rPr kumimoji="0" lang="en-US" sz="2600" b="0" i="0" u="none" strike="noStrike" kern="1200" cap="none" spc="0" normalizeH="0" noProof="0" dirty="0">
                <a:ln>
                  <a:noFill/>
                </a:ln>
                <a:solidFill>
                  <a:schemeClr val="tx1"/>
                </a:solidFill>
                <a:effectLst/>
                <a:uLnTx/>
                <a:uFillTx/>
                <a:latin typeface="+mn-lt"/>
                <a:ea typeface="+mn-ea"/>
                <a:cs typeface="+mn-cs"/>
              </a:rPr>
              <a:t>     }</a:t>
            </a:r>
            <a:endParaRPr kumimoji="0" lang="en-US"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None/>
              <a:tabLst/>
              <a:defRPr/>
            </a:pPr>
            <a:r>
              <a:rPr lang="en-US" sz="2600" dirty="0"/>
              <a:t>}</a:t>
            </a:r>
            <a:endParaRPr kumimoji="0" lang="en-US"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None/>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$B1</a:t>
            </a:r>
            <a:r>
              <a:rPr kumimoji="0" lang="en-US" sz="2600" b="0" i="0" u="none" strike="noStrike" kern="1200" cap="none" spc="0" normalizeH="0" noProof="0" dirty="0">
                <a:ln>
                  <a:noFill/>
                </a:ln>
                <a:solidFill>
                  <a:schemeClr val="tx1"/>
                </a:solidFill>
                <a:effectLst/>
                <a:uLnTx/>
                <a:uFillTx/>
                <a:latin typeface="+mn-lt"/>
                <a:ea typeface="+mn-ea"/>
                <a:cs typeface="+mn-cs"/>
              </a:rPr>
              <a:t> = new Book();</a:t>
            </a:r>
            <a:endParaRPr kumimoji="0" lang="en-IN"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endParaRPr kumimoji="0" lang="en-IN" sz="26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Footer Placeholder 3">
            <a:extLst>
              <a:ext uri="{FF2B5EF4-FFF2-40B4-BE49-F238E27FC236}">
                <a16:creationId xmlns:a16="http://schemas.microsoft.com/office/drawing/2014/main" id="{6C0FDCB0-03E0-4607-B93E-A22FAF099D67}"/>
              </a:ext>
            </a:extLst>
          </p:cNvPr>
          <p:cNvSpPr>
            <a:spLocks noGrp="1"/>
          </p:cNvSpPr>
          <p:nvPr>
            <p:ph type="ftr" sz="quarter" idx="11"/>
          </p:nvPr>
        </p:nvSpPr>
        <p:spPr>
          <a:xfrm>
            <a:off x="687977" y="6354762"/>
            <a:ext cx="5283200" cy="457200"/>
          </a:xfrm>
        </p:spPr>
        <p:txBody>
          <a:bodyPr/>
          <a:lstStyle/>
          <a:p>
            <a:r>
              <a:rPr lang="en-US" dirty="0"/>
              <a:t>Prepared by Deepali Sonawane, MIT-WPU, Pune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74638"/>
            <a:ext cx="10363200" cy="626699"/>
          </a:xfrm>
        </p:spPr>
        <p:txBody>
          <a:bodyPr>
            <a:normAutofit fontScale="90000"/>
          </a:bodyPr>
          <a:lstStyle/>
          <a:p>
            <a:r>
              <a:rPr lang="en-US" b="1" dirty="0"/>
              <a:t>Access modifiers</a:t>
            </a:r>
            <a:endParaRPr lang="en-IN" b="1" dirty="0"/>
          </a:p>
        </p:txBody>
      </p:sp>
      <p:sp>
        <p:nvSpPr>
          <p:cNvPr id="3" name="Content Placeholder 2"/>
          <p:cNvSpPr>
            <a:spLocks noGrp="1"/>
          </p:cNvSpPr>
          <p:nvPr>
            <p:ph sz="quarter" idx="1"/>
          </p:nvPr>
        </p:nvSpPr>
        <p:spPr>
          <a:xfrm>
            <a:off x="1140823" y="912221"/>
            <a:ext cx="10363200" cy="3685905"/>
          </a:xfrm>
        </p:spPr>
        <p:txBody>
          <a:bodyPr>
            <a:normAutofit/>
          </a:bodyPr>
          <a:lstStyle/>
          <a:p>
            <a:r>
              <a:rPr lang="en-US" b="1" dirty="0"/>
              <a:t>Public:</a:t>
            </a:r>
            <a:r>
              <a:rPr lang="en-US" dirty="0"/>
              <a:t> By </a:t>
            </a:r>
            <a:r>
              <a:rPr lang="en-US" b="1" dirty="0"/>
              <a:t>default</a:t>
            </a:r>
            <a:r>
              <a:rPr lang="en-US" dirty="0"/>
              <a:t> </a:t>
            </a:r>
            <a:r>
              <a:rPr lang="en-IN" dirty="0"/>
              <a:t>properties and methods of a class are </a:t>
            </a:r>
            <a:r>
              <a:rPr lang="en-IN" b="1" dirty="0"/>
              <a:t>public</a:t>
            </a:r>
            <a:r>
              <a:rPr lang="en-IN" dirty="0"/>
              <a:t>. They are accessible by any function inside the class as well as out of the class i.e. the property or method can be accessed from </a:t>
            </a:r>
            <a:r>
              <a:rPr lang="en-IN" b="1" dirty="0"/>
              <a:t>everywhere</a:t>
            </a:r>
            <a:r>
              <a:rPr lang="en-IN" dirty="0"/>
              <a:t>.</a:t>
            </a:r>
            <a:endParaRPr lang="en-US" dirty="0"/>
          </a:p>
          <a:p>
            <a:r>
              <a:rPr lang="en-US" b="1" dirty="0"/>
              <a:t>Private:  </a:t>
            </a:r>
            <a:r>
              <a:rPr lang="en-US" dirty="0"/>
              <a:t>The private members are accessible </a:t>
            </a:r>
            <a:r>
              <a:rPr lang="en-US" b="1" dirty="0"/>
              <a:t>only within the class</a:t>
            </a:r>
            <a:r>
              <a:rPr lang="en-US" dirty="0"/>
              <a:t> i.e. by the member functions of their same class. Private data members are not accessible out of the class.</a:t>
            </a:r>
          </a:p>
          <a:p>
            <a:r>
              <a:rPr lang="en-US" b="1" dirty="0"/>
              <a:t>Protected:  </a:t>
            </a:r>
            <a:r>
              <a:rPr lang="en-US" dirty="0"/>
              <a:t>The protected members are accessible </a:t>
            </a:r>
            <a:r>
              <a:rPr lang="en-US" b="1" dirty="0"/>
              <a:t>within the class</a:t>
            </a:r>
            <a:r>
              <a:rPr lang="en-US" dirty="0"/>
              <a:t> and also from the member functions of </a:t>
            </a:r>
            <a:r>
              <a:rPr lang="en-US" b="1" dirty="0"/>
              <a:t>derived class.</a:t>
            </a:r>
            <a:endParaRPr lang="en-IN" b="1" dirty="0"/>
          </a:p>
          <a:p>
            <a:pPr>
              <a:buNone/>
            </a:pPr>
            <a:endParaRPr lang="en-US" dirty="0"/>
          </a:p>
          <a:p>
            <a:pPr>
              <a:buNone/>
            </a:pPr>
            <a:endParaRPr lang="en-IN" dirty="0"/>
          </a:p>
          <a:p>
            <a:endParaRPr lang="en-IN" dirty="0"/>
          </a:p>
        </p:txBody>
      </p:sp>
      <p:sp>
        <p:nvSpPr>
          <p:cNvPr id="4" name="Footer Placeholder 3">
            <a:extLst>
              <a:ext uri="{FF2B5EF4-FFF2-40B4-BE49-F238E27FC236}">
                <a16:creationId xmlns:a16="http://schemas.microsoft.com/office/drawing/2014/main" id="{A498476D-E84F-44FF-99BD-C146F47D619C}"/>
              </a:ext>
            </a:extLst>
          </p:cNvPr>
          <p:cNvSpPr>
            <a:spLocks noGrp="1"/>
          </p:cNvSpPr>
          <p:nvPr>
            <p:ph type="ftr" sz="quarter" idx="11"/>
          </p:nvPr>
        </p:nvSpPr>
        <p:spPr/>
        <p:txBody>
          <a:bodyPr/>
          <a:lstStyle/>
          <a:p>
            <a:r>
              <a:rPr lang="en-US" dirty="0"/>
              <a:t>Prepared by Deepali Sonawane, MIT-WPU, Pune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74638"/>
            <a:ext cx="10363200" cy="626699"/>
          </a:xfrm>
        </p:spPr>
        <p:txBody>
          <a:bodyPr>
            <a:normAutofit fontScale="90000"/>
          </a:bodyPr>
          <a:lstStyle/>
          <a:p>
            <a:r>
              <a:rPr lang="en-US" b="1" dirty="0"/>
              <a:t>Use of $this</a:t>
            </a:r>
            <a:endParaRPr lang="en-IN" b="1" dirty="0"/>
          </a:p>
        </p:txBody>
      </p:sp>
      <p:sp>
        <p:nvSpPr>
          <p:cNvPr id="3" name="Content Placeholder 2"/>
          <p:cNvSpPr>
            <a:spLocks noGrp="1"/>
          </p:cNvSpPr>
          <p:nvPr>
            <p:ph sz="quarter" idx="1"/>
          </p:nvPr>
        </p:nvSpPr>
        <p:spPr>
          <a:xfrm>
            <a:off x="1140823" y="912221"/>
            <a:ext cx="10363200" cy="5488579"/>
          </a:xfrm>
        </p:spPr>
        <p:txBody>
          <a:bodyPr>
            <a:normAutofit fontScale="92500" lnSpcReduction="20000"/>
          </a:bodyPr>
          <a:lstStyle/>
          <a:p>
            <a:r>
              <a:rPr lang="en-IN" dirty="0"/>
              <a:t>$this is mainly used to </a:t>
            </a:r>
            <a:r>
              <a:rPr lang="en-IN" b="1" dirty="0"/>
              <a:t>refer properties </a:t>
            </a:r>
            <a:r>
              <a:rPr lang="en-IN" dirty="0"/>
              <a:t>of a class. </a:t>
            </a:r>
          </a:p>
          <a:p>
            <a:r>
              <a:rPr lang="en-IN" dirty="0"/>
              <a:t>It is the way to reference an </a:t>
            </a:r>
            <a:r>
              <a:rPr lang="en-IN" b="1" dirty="0"/>
              <a:t>instance of a class </a:t>
            </a:r>
            <a:r>
              <a:rPr lang="en-IN" dirty="0"/>
              <a:t>from within itself, the same as many other object oriented languages.</a:t>
            </a:r>
            <a:endParaRPr lang="en-US" dirty="0"/>
          </a:p>
          <a:p>
            <a:pPr>
              <a:buNone/>
            </a:pPr>
            <a:r>
              <a:rPr lang="en-US" dirty="0"/>
              <a:t>Example: </a:t>
            </a:r>
          </a:p>
          <a:p>
            <a:pPr>
              <a:buNone/>
            </a:pPr>
            <a:r>
              <a:rPr lang="en-US" dirty="0"/>
              <a:t>class employee</a:t>
            </a:r>
          </a:p>
          <a:p>
            <a:pPr>
              <a:buNone/>
            </a:pPr>
            <a:r>
              <a:rPr lang="en-US" dirty="0"/>
              <a:t>{</a:t>
            </a:r>
          </a:p>
          <a:p>
            <a:pPr>
              <a:buNone/>
            </a:pPr>
            <a:r>
              <a:rPr lang="en-US" dirty="0"/>
              <a:t>	</a:t>
            </a:r>
            <a:r>
              <a:rPr lang="en-US" dirty="0" err="1"/>
              <a:t>var</a:t>
            </a:r>
            <a:r>
              <a:rPr lang="en-US" dirty="0"/>
              <a:t> $</a:t>
            </a:r>
            <a:r>
              <a:rPr lang="en-US" dirty="0" err="1"/>
              <a:t>empno</a:t>
            </a:r>
            <a:r>
              <a:rPr lang="en-US" dirty="0"/>
              <a:t>;</a:t>
            </a:r>
          </a:p>
          <a:p>
            <a:pPr>
              <a:buNone/>
            </a:pPr>
            <a:r>
              <a:rPr lang="en-US" dirty="0"/>
              <a:t>    </a:t>
            </a:r>
            <a:r>
              <a:rPr lang="en-US" dirty="0" err="1"/>
              <a:t>var</a:t>
            </a:r>
            <a:r>
              <a:rPr lang="en-US" dirty="0"/>
              <a:t> $</a:t>
            </a:r>
            <a:r>
              <a:rPr lang="en-US" dirty="0" err="1"/>
              <a:t>ename</a:t>
            </a:r>
            <a:r>
              <a:rPr lang="en-US" dirty="0"/>
              <a:t>;</a:t>
            </a:r>
          </a:p>
          <a:p>
            <a:pPr>
              <a:buNone/>
            </a:pPr>
            <a:r>
              <a:rPr lang="en-US" dirty="0"/>
              <a:t>   function set()</a:t>
            </a:r>
          </a:p>
          <a:p>
            <a:pPr>
              <a:buNone/>
            </a:pPr>
            <a:r>
              <a:rPr lang="en-US" dirty="0"/>
              <a:t>   {</a:t>
            </a:r>
          </a:p>
          <a:p>
            <a:pPr>
              <a:buNone/>
            </a:pPr>
            <a:r>
              <a:rPr lang="en-US" dirty="0"/>
              <a:t>        $this-&gt;</a:t>
            </a:r>
            <a:r>
              <a:rPr lang="en-US" dirty="0" err="1"/>
              <a:t>empno</a:t>
            </a:r>
            <a:r>
              <a:rPr lang="en-US" dirty="0"/>
              <a:t> = 101;</a:t>
            </a:r>
          </a:p>
          <a:p>
            <a:pPr>
              <a:buNone/>
            </a:pPr>
            <a:r>
              <a:rPr lang="en-US" dirty="0"/>
              <a:t>	    $this-&gt;</a:t>
            </a:r>
            <a:r>
              <a:rPr lang="en-US" dirty="0" err="1"/>
              <a:t>ename</a:t>
            </a:r>
            <a:r>
              <a:rPr lang="en-US" dirty="0"/>
              <a:t> = “</a:t>
            </a:r>
            <a:r>
              <a:rPr lang="en-US" dirty="0" err="1"/>
              <a:t>Suhas</a:t>
            </a:r>
            <a:r>
              <a:rPr lang="en-US" dirty="0"/>
              <a:t> </a:t>
            </a:r>
            <a:r>
              <a:rPr lang="en-US" dirty="0" err="1"/>
              <a:t>Shinde</a:t>
            </a:r>
            <a:r>
              <a:rPr lang="en-US" dirty="0"/>
              <a:t>”;</a:t>
            </a:r>
          </a:p>
          <a:p>
            <a:pPr>
              <a:buNone/>
            </a:pPr>
            <a:r>
              <a:rPr lang="en-US" dirty="0"/>
              <a:t>   }</a:t>
            </a:r>
          </a:p>
          <a:p>
            <a:pPr>
              <a:buNone/>
            </a:pPr>
            <a:r>
              <a:rPr lang="en-US" dirty="0"/>
              <a:t>}</a:t>
            </a:r>
            <a:endParaRPr lang="en-IN" dirty="0"/>
          </a:p>
          <a:p>
            <a:endParaRPr lang="en-IN" dirty="0"/>
          </a:p>
        </p:txBody>
      </p:sp>
      <p:sp>
        <p:nvSpPr>
          <p:cNvPr id="4" name="Footer Placeholder 3">
            <a:extLst>
              <a:ext uri="{FF2B5EF4-FFF2-40B4-BE49-F238E27FC236}">
                <a16:creationId xmlns:a16="http://schemas.microsoft.com/office/drawing/2014/main" id="{49636AEA-86BB-4DDA-A0CB-1E13E62B0D7C}"/>
              </a:ext>
            </a:extLst>
          </p:cNvPr>
          <p:cNvSpPr>
            <a:spLocks noGrp="1"/>
          </p:cNvSpPr>
          <p:nvPr>
            <p:ph type="ftr" sz="quarter" idx="11"/>
          </p:nvPr>
        </p:nvSpPr>
        <p:spPr/>
        <p:txBody>
          <a:bodyPr/>
          <a:lstStyle/>
          <a:p>
            <a:r>
              <a:rPr lang="en-US" dirty="0"/>
              <a:t>Prepared by Deepali Sonawane, MIT-WPU</a:t>
            </a:r>
            <a:r>
              <a:rPr lang="en-US"/>
              <a:t>, Pune</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74638"/>
            <a:ext cx="10363200" cy="626699"/>
          </a:xfrm>
        </p:spPr>
        <p:txBody>
          <a:bodyPr>
            <a:normAutofit fontScale="90000"/>
          </a:bodyPr>
          <a:lstStyle/>
          <a:p>
            <a:r>
              <a:rPr lang="en-US" b="1" dirty="0"/>
              <a:t>Constructor</a:t>
            </a:r>
            <a:endParaRPr lang="en-IN" b="1" dirty="0"/>
          </a:p>
        </p:txBody>
      </p:sp>
      <p:sp>
        <p:nvSpPr>
          <p:cNvPr id="3" name="Content Placeholder 2"/>
          <p:cNvSpPr>
            <a:spLocks noGrp="1"/>
          </p:cNvSpPr>
          <p:nvPr>
            <p:ph sz="quarter" idx="1"/>
          </p:nvPr>
        </p:nvSpPr>
        <p:spPr>
          <a:xfrm>
            <a:off x="1140823" y="912221"/>
            <a:ext cx="10363200" cy="5684522"/>
          </a:xfrm>
        </p:spPr>
        <p:txBody>
          <a:bodyPr>
            <a:normAutofit fontScale="77500" lnSpcReduction="20000"/>
          </a:bodyPr>
          <a:lstStyle/>
          <a:p>
            <a:r>
              <a:rPr lang="en-IN" dirty="0"/>
              <a:t>A constructor allows us to </a:t>
            </a:r>
            <a:r>
              <a:rPr lang="en-IN" b="1" dirty="0"/>
              <a:t>initialize an object's properties</a:t>
            </a:r>
            <a:r>
              <a:rPr lang="en-IN" dirty="0"/>
              <a:t> upon creation of the object.</a:t>
            </a:r>
          </a:p>
          <a:p>
            <a:r>
              <a:rPr lang="en-US" dirty="0"/>
              <a:t>A constructor is a </a:t>
            </a:r>
            <a:r>
              <a:rPr lang="en-US" b="1" dirty="0"/>
              <a:t>special member function </a:t>
            </a:r>
            <a:r>
              <a:rPr lang="en-US" dirty="0"/>
              <a:t>for automatic initialization of an object.</a:t>
            </a:r>
          </a:p>
          <a:p>
            <a:r>
              <a:rPr lang="en-IN" dirty="0"/>
              <a:t>The constructor function starts with </a:t>
            </a:r>
            <a:r>
              <a:rPr lang="en-IN" b="1" dirty="0"/>
              <a:t>two underscores </a:t>
            </a:r>
            <a:r>
              <a:rPr lang="en-IN" dirty="0"/>
              <a:t>(__).</a:t>
            </a:r>
          </a:p>
          <a:p>
            <a:r>
              <a:rPr lang="en-IN" dirty="0"/>
              <a:t>If you create a </a:t>
            </a:r>
            <a:r>
              <a:rPr lang="en-IN" b="1" dirty="0"/>
              <a:t>__construct()</a:t>
            </a:r>
            <a:r>
              <a:rPr lang="en-IN" dirty="0"/>
              <a:t> function, PHP will </a:t>
            </a:r>
            <a:r>
              <a:rPr lang="en-IN" b="1" dirty="0"/>
              <a:t>automatically call</a:t>
            </a:r>
            <a:r>
              <a:rPr lang="en-IN" dirty="0"/>
              <a:t> this function when you create an object from a class.</a:t>
            </a:r>
          </a:p>
          <a:p>
            <a:r>
              <a:rPr lang="en-US" dirty="0"/>
              <a:t>Example:</a:t>
            </a:r>
          </a:p>
          <a:p>
            <a:pPr>
              <a:buNone/>
            </a:pPr>
            <a:r>
              <a:rPr lang="en-US" dirty="0"/>
              <a:t>class employee</a:t>
            </a:r>
          </a:p>
          <a:p>
            <a:pPr>
              <a:buNone/>
            </a:pPr>
            <a:r>
              <a:rPr lang="en-US" dirty="0"/>
              <a:t>{</a:t>
            </a:r>
          </a:p>
          <a:p>
            <a:pPr>
              <a:buNone/>
            </a:pPr>
            <a:r>
              <a:rPr lang="en-US" dirty="0"/>
              <a:t>    </a:t>
            </a:r>
            <a:r>
              <a:rPr lang="en-US" dirty="0" err="1"/>
              <a:t>var</a:t>
            </a:r>
            <a:r>
              <a:rPr lang="en-US" dirty="0"/>
              <a:t> $</a:t>
            </a:r>
            <a:r>
              <a:rPr lang="en-US" dirty="0" err="1"/>
              <a:t>empno</a:t>
            </a:r>
            <a:r>
              <a:rPr lang="en-US" dirty="0"/>
              <a:t>;</a:t>
            </a:r>
          </a:p>
          <a:p>
            <a:pPr>
              <a:buNone/>
            </a:pPr>
            <a:r>
              <a:rPr lang="en-US" dirty="0"/>
              <a:t>    </a:t>
            </a:r>
            <a:r>
              <a:rPr lang="en-US" dirty="0" err="1"/>
              <a:t>var</a:t>
            </a:r>
            <a:r>
              <a:rPr lang="en-US" dirty="0"/>
              <a:t> $</a:t>
            </a:r>
            <a:r>
              <a:rPr lang="en-US" dirty="0" err="1"/>
              <a:t>ename</a:t>
            </a:r>
            <a:r>
              <a:rPr lang="en-US" dirty="0"/>
              <a:t>;</a:t>
            </a:r>
          </a:p>
          <a:p>
            <a:pPr>
              <a:buNone/>
            </a:pPr>
            <a:r>
              <a:rPr lang="en-US" dirty="0"/>
              <a:t>   function __construct()</a:t>
            </a:r>
          </a:p>
          <a:p>
            <a:pPr>
              <a:buNone/>
            </a:pPr>
            <a:r>
              <a:rPr lang="en-US" dirty="0"/>
              <a:t>   {</a:t>
            </a:r>
          </a:p>
          <a:p>
            <a:pPr>
              <a:buNone/>
            </a:pPr>
            <a:r>
              <a:rPr lang="en-US" dirty="0"/>
              <a:t>        $this-&gt;</a:t>
            </a:r>
            <a:r>
              <a:rPr lang="en-US" dirty="0" err="1"/>
              <a:t>empno</a:t>
            </a:r>
            <a:r>
              <a:rPr lang="en-US" dirty="0"/>
              <a:t> = “101”;</a:t>
            </a:r>
          </a:p>
          <a:p>
            <a:pPr>
              <a:buNone/>
            </a:pPr>
            <a:r>
              <a:rPr lang="en-US" dirty="0"/>
              <a:t>	   $this-&gt;</a:t>
            </a:r>
            <a:r>
              <a:rPr lang="en-US" dirty="0" err="1"/>
              <a:t>ename</a:t>
            </a:r>
            <a:r>
              <a:rPr lang="en-US" dirty="0"/>
              <a:t> = “</a:t>
            </a:r>
            <a:r>
              <a:rPr lang="en-US" dirty="0" err="1"/>
              <a:t>Sonali</a:t>
            </a:r>
            <a:r>
              <a:rPr lang="en-US" dirty="0"/>
              <a:t> </a:t>
            </a:r>
            <a:r>
              <a:rPr lang="en-US" dirty="0" err="1"/>
              <a:t>Shinde</a:t>
            </a:r>
            <a:r>
              <a:rPr lang="en-US" dirty="0"/>
              <a:t>”;</a:t>
            </a:r>
          </a:p>
          <a:p>
            <a:pPr>
              <a:buNone/>
            </a:pPr>
            <a:r>
              <a:rPr lang="en-US" dirty="0"/>
              <a:t>   }</a:t>
            </a:r>
          </a:p>
          <a:p>
            <a:pPr>
              <a:buNone/>
            </a:pPr>
            <a:r>
              <a:rPr lang="en-US" dirty="0"/>
              <a:t>}</a:t>
            </a:r>
          </a:p>
          <a:p>
            <a:pPr>
              <a:buNone/>
            </a:pPr>
            <a:r>
              <a:rPr lang="en-US" dirty="0"/>
              <a:t>$e = new employee();</a:t>
            </a:r>
          </a:p>
        </p:txBody>
      </p:sp>
      <p:sp>
        <p:nvSpPr>
          <p:cNvPr id="4" name="Footer Placeholder 3">
            <a:extLst>
              <a:ext uri="{FF2B5EF4-FFF2-40B4-BE49-F238E27FC236}">
                <a16:creationId xmlns:a16="http://schemas.microsoft.com/office/drawing/2014/main" id="{D70C1EF5-8FA2-46B3-A57E-A2DA924E8A88}"/>
              </a:ext>
            </a:extLst>
          </p:cNvPr>
          <p:cNvSpPr>
            <a:spLocks noGrp="1"/>
          </p:cNvSpPr>
          <p:nvPr>
            <p:ph type="ftr" sz="quarter" idx="11"/>
          </p:nvPr>
        </p:nvSpPr>
        <p:spPr/>
        <p:txBody>
          <a:bodyPr/>
          <a:lstStyle/>
          <a:p>
            <a:r>
              <a:rPr lang="en-US"/>
              <a:t>Prepared by Deepali Sonawane, MIT-WPU, Pune</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74638"/>
            <a:ext cx="10363200" cy="626699"/>
          </a:xfrm>
        </p:spPr>
        <p:txBody>
          <a:bodyPr>
            <a:normAutofit fontScale="90000"/>
          </a:bodyPr>
          <a:lstStyle/>
          <a:p>
            <a:r>
              <a:rPr lang="en-US" b="1" dirty="0"/>
              <a:t>Destructor</a:t>
            </a:r>
            <a:endParaRPr lang="en-IN" b="1" dirty="0"/>
          </a:p>
        </p:txBody>
      </p:sp>
      <p:sp>
        <p:nvSpPr>
          <p:cNvPr id="3" name="Content Placeholder 2"/>
          <p:cNvSpPr>
            <a:spLocks noGrp="1"/>
          </p:cNvSpPr>
          <p:nvPr>
            <p:ph sz="quarter" idx="1"/>
          </p:nvPr>
        </p:nvSpPr>
        <p:spPr>
          <a:xfrm>
            <a:off x="1140823" y="912221"/>
            <a:ext cx="10363200" cy="5488579"/>
          </a:xfrm>
        </p:spPr>
        <p:txBody>
          <a:bodyPr>
            <a:normAutofit fontScale="85000" lnSpcReduction="20000"/>
          </a:bodyPr>
          <a:lstStyle/>
          <a:p>
            <a:r>
              <a:rPr lang="en-IN" dirty="0"/>
              <a:t>A destructor is called when the </a:t>
            </a:r>
            <a:r>
              <a:rPr lang="en-IN" b="1" dirty="0"/>
              <a:t>object is destructed</a:t>
            </a:r>
            <a:r>
              <a:rPr lang="en-IN" dirty="0"/>
              <a:t> or </a:t>
            </a:r>
            <a:r>
              <a:rPr lang="en-IN" b="1" dirty="0"/>
              <a:t>the script is stopped</a:t>
            </a:r>
            <a:r>
              <a:rPr lang="en-IN" dirty="0"/>
              <a:t> or </a:t>
            </a:r>
            <a:r>
              <a:rPr lang="en-IN" b="1" dirty="0"/>
              <a:t>exited. </a:t>
            </a:r>
          </a:p>
          <a:p>
            <a:r>
              <a:rPr lang="en-IN" dirty="0"/>
              <a:t>The destructor function starts with </a:t>
            </a:r>
            <a:r>
              <a:rPr lang="en-IN" b="1" dirty="0"/>
              <a:t>two underscores</a:t>
            </a:r>
            <a:r>
              <a:rPr lang="en-IN" dirty="0"/>
              <a:t> (__).</a:t>
            </a:r>
          </a:p>
          <a:p>
            <a:r>
              <a:rPr lang="en-IN" dirty="0"/>
              <a:t>If you write a</a:t>
            </a:r>
            <a:r>
              <a:rPr lang="en-IN" b="1" dirty="0"/>
              <a:t> __destruct() </a:t>
            </a:r>
            <a:r>
              <a:rPr lang="en-IN" dirty="0"/>
              <a:t>function, PHP will </a:t>
            </a:r>
            <a:r>
              <a:rPr lang="en-IN" b="1" dirty="0"/>
              <a:t>automatically call</a:t>
            </a:r>
            <a:r>
              <a:rPr lang="en-IN" dirty="0"/>
              <a:t> this function  at the end of the script.</a:t>
            </a:r>
          </a:p>
          <a:p>
            <a:r>
              <a:rPr lang="en-US" dirty="0"/>
              <a:t>Example:</a:t>
            </a:r>
          </a:p>
          <a:p>
            <a:pPr>
              <a:buNone/>
            </a:pPr>
            <a:r>
              <a:rPr lang="en-US" dirty="0"/>
              <a:t>class employee</a:t>
            </a:r>
          </a:p>
          <a:p>
            <a:pPr>
              <a:buNone/>
            </a:pPr>
            <a:r>
              <a:rPr lang="en-US" dirty="0"/>
              <a:t>{</a:t>
            </a:r>
          </a:p>
          <a:p>
            <a:pPr>
              <a:buNone/>
            </a:pPr>
            <a:r>
              <a:rPr lang="en-US" dirty="0"/>
              <a:t>   </a:t>
            </a:r>
            <a:r>
              <a:rPr lang="en-US" dirty="0" err="1"/>
              <a:t>var</a:t>
            </a:r>
            <a:r>
              <a:rPr lang="en-US" dirty="0"/>
              <a:t> $</a:t>
            </a:r>
            <a:r>
              <a:rPr lang="en-US" dirty="0" err="1"/>
              <a:t>empno</a:t>
            </a:r>
            <a:r>
              <a:rPr lang="en-US" dirty="0"/>
              <a:t>;</a:t>
            </a:r>
          </a:p>
          <a:p>
            <a:pPr>
              <a:buNone/>
            </a:pPr>
            <a:r>
              <a:rPr lang="en-US" dirty="0"/>
              <a:t>   </a:t>
            </a:r>
            <a:r>
              <a:rPr lang="en-US" dirty="0" err="1"/>
              <a:t>var</a:t>
            </a:r>
            <a:r>
              <a:rPr lang="en-US" dirty="0"/>
              <a:t> $</a:t>
            </a:r>
            <a:r>
              <a:rPr lang="en-US" dirty="0" err="1"/>
              <a:t>ename</a:t>
            </a:r>
            <a:r>
              <a:rPr lang="en-US" dirty="0"/>
              <a:t>;</a:t>
            </a:r>
          </a:p>
          <a:p>
            <a:pPr>
              <a:buNone/>
            </a:pPr>
            <a:endParaRPr lang="en-US" dirty="0"/>
          </a:p>
          <a:p>
            <a:pPr>
              <a:buNone/>
            </a:pPr>
            <a:r>
              <a:rPr lang="en-US" dirty="0"/>
              <a:t>   function __construct()</a:t>
            </a:r>
          </a:p>
          <a:p>
            <a:pPr>
              <a:buNone/>
            </a:pPr>
            <a:r>
              <a:rPr lang="en-US" dirty="0"/>
              <a:t>   {</a:t>
            </a:r>
          </a:p>
          <a:p>
            <a:pPr>
              <a:buNone/>
            </a:pPr>
            <a:r>
              <a:rPr lang="en-US" dirty="0"/>
              <a:t>        $this-&gt;</a:t>
            </a:r>
            <a:r>
              <a:rPr lang="en-US" dirty="0" err="1"/>
              <a:t>empno</a:t>
            </a:r>
            <a:r>
              <a:rPr lang="en-US" dirty="0"/>
              <a:t> = “101”;</a:t>
            </a:r>
          </a:p>
          <a:p>
            <a:pPr>
              <a:buNone/>
            </a:pPr>
            <a:r>
              <a:rPr lang="en-US" dirty="0"/>
              <a:t>	    $this-&gt;</a:t>
            </a:r>
            <a:r>
              <a:rPr lang="en-US" dirty="0" err="1"/>
              <a:t>ename</a:t>
            </a:r>
            <a:r>
              <a:rPr lang="en-US" dirty="0"/>
              <a:t> = “</a:t>
            </a:r>
            <a:r>
              <a:rPr lang="en-US" dirty="0" err="1"/>
              <a:t>Sonali</a:t>
            </a:r>
            <a:r>
              <a:rPr lang="en-US" dirty="0"/>
              <a:t> </a:t>
            </a:r>
            <a:r>
              <a:rPr lang="en-US" dirty="0" err="1"/>
              <a:t>Shinde</a:t>
            </a:r>
            <a:r>
              <a:rPr lang="en-US" dirty="0"/>
              <a:t>”;</a:t>
            </a:r>
          </a:p>
          <a:p>
            <a:pPr>
              <a:buNone/>
            </a:pPr>
            <a:r>
              <a:rPr lang="en-US" dirty="0"/>
              <a:t>   }</a:t>
            </a:r>
          </a:p>
          <a:p>
            <a:pPr>
              <a:buNone/>
            </a:pPr>
            <a:endParaRPr lang="en-IN" dirty="0"/>
          </a:p>
        </p:txBody>
      </p:sp>
      <p:sp>
        <p:nvSpPr>
          <p:cNvPr id="4" name="Content Placeholder 2"/>
          <p:cNvSpPr txBox="1">
            <a:spLocks/>
          </p:cNvSpPr>
          <p:nvPr/>
        </p:nvSpPr>
        <p:spPr>
          <a:xfrm>
            <a:off x="6021978" y="2495006"/>
            <a:ext cx="5316583" cy="3836126"/>
          </a:xfrm>
          <a:prstGeom prst="rect">
            <a:avLst/>
          </a:prstGeom>
        </p:spPr>
        <p:txBody>
          <a:bodyPr vert="horz">
            <a:normAutofit/>
          </a:bodyPr>
          <a:lstStyle/>
          <a:p>
            <a:pPr marL="274320" marR="0" lvl="0" indent="-274320" algn="l" defTabSz="914400" rtl="0" eaLnBrk="1" fontAlgn="auto" latinLnBrk="0" hangingPunct="1">
              <a:lnSpc>
                <a:spcPct val="100000"/>
              </a:lnSpc>
              <a:spcBef>
                <a:spcPts val="580"/>
              </a:spcBef>
              <a:spcAft>
                <a:spcPts val="0"/>
              </a:spcAft>
              <a:buClr>
                <a:schemeClr val="accent1"/>
              </a:buClr>
              <a:buSzPct val="85000"/>
              <a:tabLst/>
              <a:defRPr/>
            </a:pPr>
            <a:r>
              <a:rPr lang="en-US" sz="2400" dirty="0"/>
              <a:t>f</a:t>
            </a:r>
            <a:r>
              <a:rPr kumimoji="0" lang="en-US" sz="2400" b="0" i="0" u="none" strike="noStrike" kern="1200" cap="none" spc="0" normalizeH="0" baseline="0" noProof="0" dirty="0">
                <a:ln>
                  <a:noFill/>
                </a:ln>
                <a:solidFill>
                  <a:schemeClr val="tx1"/>
                </a:solidFill>
                <a:effectLst/>
                <a:uLnTx/>
                <a:uFillTx/>
                <a:latin typeface="+mn-lt"/>
                <a:ea typeface="+mn-ea"/>
                <a:cs typeface="+mn-cs"/>
              </a:rPr>
              <a:t>unction __destruct()</a:t>
            </a:r>
          </a:p>
          <a:p>
            <a:pPr marL="274320" marR="0" lvl="0" indent="-274320" algn="l" defTabSz="914400" rtl="0" eaLnBrk="1" fontAlgn="auto" latinLnBrk="0" hangingPunct="1">
              <a:lnSpc>
                <a:spcPct val="100000"/>
              </a:lnSpc>
              <a:spcBef>
                <a:spcPts val="580"/>
              </a:spcBef>
              <a:spcAft>
                <a:spcPts val="0"/>
              </a:spcAft>
              <a:buClr>
                <a:schemeClr val="accent1"/>
              </a:buClr>
              <a:buSzPct val="85000"/>
              <a:tabLst/>
              <a:defRPr/>
            </a:pPr>
            <a:r>
              <a:rPr lang="en-US" sz="2400" dirty="0"/>
              <a:t>{</a:t>
            </a:r>
          </a:p>
          <a:p>
            <a:pPr marL="274320" marR="0" lvl="0" indent="-274320" algn="l" defTabSz="914400" rtl="0" eaLnBrk="1" fontAlgn="auto" latinLnBrk="0" hangingPunct="1">
              <a:lnSpc>
                <a:spcPct val="100000"/>
              </a:lnSpc>
              <a:spcBef>
                <a:spcPts val="580"/>
              </a:spcBef>
              <a:spcAft>
                <a:spcPts val="0"/>
              </a:spcAft>
              <a:buClr>
                <a:schemeClr val="accent1"/>
              </a:buClr>
              <a:buSzPct val="85000"/>
              <a:tabLst/>
              <a:defRPr/>
            </a:pPr>
            <a:r>
              <a:rPr kumimoji="0" lang="en-US" sz="2400" b="0" i="0" u="none" strike="noStrike" kern="1200" cap="none" spc="0" normalizeH="0" baseline="0" noProof="0" dirty="0">
                <a:ln>
                  <a:noFill/>
                </a:ln>
                <a:solidFill>
                  <a:schemeClr val="tx1"/>
                </a:solidFill>
                <a:effectLst/>
                <a:uLnTx/>
                <a:uFillTx/>
                <a:latin typeface="+mn-lt"/>
                <a:ea typeface="+mn-ea"/>
                <a:cs typeface="+mn-cs"/>
              </a:rPr>
              <a:t>     echo “</a:t>
            </a:r>
            <a:r>
              <a:rPr kumimoji="0" lang="en-US" sz="2400" b="0" i="0" u="none" strike="noStrike" kern="1200" cap="none" spc="0" normalizeH="0" baseline="0" noProof="0" dirty="0" err="1">
                <a:ln>
                  <a:noFill/>
                </a:ln>
                <a:solidFill>
                  <a:schemeClr val="tx1"/>
                </a:solidFill>
                <a:effectLst/>
                <a:uLnTx/>
                <a:uFillTx/>
                <a:latin typeface="+mn-lt"/>
                <a:ea typeface="+mn-ea"/>
                <a:cs typeface="+mn-cs"/>
              </a:rPr>
              <a:t>Emplyee</a:t>
            </a:r>
            <a:r>
              <a:rPr kumimoji="0" lang="en-US" sz="2400" b="0" i="0" u="none" strike="noStrike" kern="1200" cap="none" spc="0" normalizeH="0" noProof="0" dirty="0">
                <a:ln>
                  <a:noFill/>
                </a:ln>
                <a:solidFill>
                  <a:schemeClr val="tx1"/>
                </a:solidFill>
                <a:effectLst/>
                <a:uLnTx/>
                <a:uFillTx/>
                <a:latin typeface="+mn-lt"/>
                <a:ea typeface="+mn-ea"/>
                <a:cs typeface="+mn-cs"/>
              </a:rPr>
              <a:t> number=</a:t>
            </a:r>
            <a:r>
              <a:rPr kumimoji="0" lang="en-US" sz="2400" b="0" i="0" u="none" strike="noStrike" kern="1200" cap="none" spc="0" normalizeH="0" baseline="0" noProof="0" dirty="0">
                <a:ln>
                  <a:noFill/>
                </a:ln>
                <a:solidFill>
                  <a:schemeClr val="tx1"/>
                </a:solidFill>
                <a:effectLst/>
                <a:uLnTx/>
                <a:uFillTx/>
                <a:latin typeface="+mn-lt"/>
                <a:ea typeface="+mn-ea"/>
                <a:cs typeface="+mn-cs"/>
              </a:rPr>
              <a:t>”, $this-&gt;</a:t>
            </a:r>
            <a:r>
              <a:rPr kumimoji="0" lang="en-US" sz="2400" b="0" i="0" u="none" strike="noStrike" kern="1200" cap="none" spc="0" normalizeH="0" baseline="0" noProof="0" dirty="0" err="1">
                <a:ln>
                  <a:noFill/>
                </a:ln>
                <a:solidFill>
                  <a:schemeClr val="tx1"/>
                </a:solidFill>
                <a:effectLst/>
                <a:uLnTx/>
                <a:uFillTx/>
                <a:latin typeface="+mn-lt"/>
                <a:ea typeface="+mn-ea"/>
                <a:cs typeface="+mn-cs"/>
              </a:rPr>
              <a:t>empno</a:t>
            </a:r>
            <a:r>
              <a:rPr kumimoji="0" lang="en-US" sz="2400" b="0" i="0" u="none" strike="noStrike" kern="1200" cap="none" spc="0" normalizeH="0" baseline="0" noProof="0" dirty="0">
                <a:ln>
                  <a:noFill/>
                </a:ln>
                <a:solidFill>
                  <a:schemeClr val="tx1"/>
                </a:solidFill>
                <a:effectLst/>
                <a:uLnTx/>
                <a:uFillTx/>
                <a:latin typeface="+mn-lt"/>
                <a:ea typeface="+mn-ea"/>
                <a:cs typeface="+mn-cs"/>
              </a:rPr>
              <a:t>;</a:t>
            </a:r>
          </a:p>
          <a:p>
            <a:pPr marL="274320" lvl="0" indent="-274320">
              <a:spcBef>
                <a:spcPts val="580"/>
              </a:spcBef>
              <a:buClr>
                <a:schemeClr val="accent1"/>
              </a:buClr>
              <a:buSzPct val="85000"/>
            </a:pPr>
            <a:r>
              <a:rPr lang="en-US" sz="2400" dirty="0"/>
              <a:t>     echo “</a:t>
            </a:r>
            <a:r>
              <a:rPr lang="en-US" sz="2400" dirty="0" err="1"/>
              <a:t>Emplyee</a:t>
            </a:r>
            <a:r>
              <a:rPr lang="en-US" sz="2400" dirty="0"/>
              <a:t> Name=”, $this-&gt;</a:t>
            </a:r>
            <a:r>
              <a:rPr lang="en-US" sz="2400" dirty="0" err="1"/>
              <a:t>ename</a:t>
            </a:r>
            <a:r>
              <a:rPr lang="en-US" sz="2400" dirty="0"/>
              <a:t>;</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tabLst/>
              <a:defRPr/>
            </a:pPr>
            <a:r>
              <a:rPr lang="en-US" sz="2400" dirty="0"/>
              <a:t>}</a:t>
            </a:r>
          </a:p>
          <a:p>
            <a:pPr marL="274320" marR="0" lvl="0" indent="-274320" algn="l" defTabSz="914400" rtl="0" eaLnBrk="1" fontAlgn="auto" latinLnBrk="0" hangingPunct="1">
              <a:lnSpc>
                <a:spcPct val="100000"/>
              </a:lnSpc>
              <a:spcBef>
                <a:spcPts val="580"/>
              </a:spcBef>
              <a:spcAft>
                <a:spcPts val="0"/>
              </a:spcAft>
              <a:buClr>
                <a:schemeClr val="accent1"/>
              </a:buClr>
              <a:buSzPct val="85000"/>
              <a:tabLst/>
              <a:defRPr/>
            </a:pPr>
            <a:r>
              <a:rPr lang="en-US" sz="2400" dirty="0"/>
              <a:t>}</a:t>
            </a:r>
          </a:p>
          <a:p>
            <a:pPr marL="274320" marR="0" lvl="0" indent="-274320" algn="l" defTabSz="914400" rtl="0" eaLnBrk="1" fontAlgn="auto" latinLnBrk="0" hangingPunct="1">
              <a:lnSpc>
                <a:spcPct val="100000"/>
              </a:lnSpc>
              <a:spcBef>
                <a:spcPts val="580"/>
              </a:spcBef>
              <a:spcAft>
                <a:spcPts val="0"/>
              </a:spcAft>
              <a:buClr>
                <a:schemeClr val="accent1"/>
              </a:buClr>
              <a:buSzPct val="85000"/>
              <a:tabLst/>
              <a:defRPr/>
            </a:pPr>
            <a:r>
              <a:rPr kumimoji="0" lang="en-US" sz="2400" b="0" i="0" u="none" strike="noStrike" kern="1200" cap="none" spc="0" normalizeH="0" baseline="0" noProof="0" dirty="0">
                <a:ln>
                  <a:noFill/>
                </a:ln>
                <a:solidFill>
                  <a:schemeClr val="tx1"/>
                </a:solidFill>
                <a:effectLst/>
                <a:uLnTx/>
                <a:uFillTx/>
                <a:latin typeface="+mn-lt"/>
                <a:ea typeface="+mn-ea"/>
                <a:cs typeface="+mn-cs"/>
              </a:rPr>
              <a:t>$e = new employee();</a:t>
            </a:r>
            <a:endParaRPr kumimoji="0" lang="en-IN"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Footer Placeholder 4">
            <a:extLst>
              <a:ext uri="{FF2B5EF4-FFF2-40B4-BE49-F238E27FC236}">
                <a16:creationId xmlns:a16="http://schemas.microsoft.com/office/drawing/2014/main" id="{4D1E7212-8777-41F2-BFE5-577B24250221}"/>
              </a:ext>
            </a:extLst>
          </p:cNvPr>
          <p:cNvSpPr>
            <a:spLocks noGrp="1"/>
          </p:cNvSpPr>
          <p:nvPr>
            <p:ph type="ftr" sz="quarter" idx="11"/>
          </p:nvPr>
        </p:nvSpPr>
        <p:spPr/>
        <p:txBody>
          <a:bodyPr/>
          <a:lstStyle/>
          <a:p>
            <a:r>
              <a:rPr lang="en-US" dirty="0"/>
              <a:t>Prepared by Deepali Sonawane, MIT-WPU, Pune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74638"/>
            <a:ext cx="10363200" cy="626699"/>
          </a:xfrm>
        </p:spPr>
        <p:txBody>
          <a:bodyPr>
            <a:normAutofit fontScale="90000"/>
          </a:bodyPr>
          <a:lstStyle/>
          <a:p>
            <a:r>
              <a:rPr lang="en-US" b="1" dirty="0"/>
              <a:t>Static Properties</a:t>
            </a:r>
            <a:endParaRPr lang="en-IN" b="1" dirty="0"/>
          </a:p>
        </p:txBody>
      </p:sp>
      <p:sp>
        <p:nvSpPr>
          <p:cNvPr id="3" name="Content Placeholder 2"/>
          <p:cNvSpPr>
            <a:spLocks noGrp="1"/>
          </p:cNvSpPr>
          <p:nvPr>
            <p:ph sz="quarter" idx="1"/>
          </p:nvPr>
        </p:nvSpPr>
        <p:spPr>
          <a:xfrm>
            <a:off x="1140823" y="912221"/>
            <a:ext cx="10363200" cy="5488579"/>
          </a:xfrm>
        </p:spPr>
        <p:txBody>
          <a:bodyPr>
            <a:normAutofit/>
          </a:bodyPr>
          <a:lstStyle/>
          <a:p>
            <a:r>
              <a:rPr lang="en-IN" dirty="0"/>
              <a:t>Static properties can be called </a:t>
            </a:r>
            <a:r>
              <a:rPr lang="en-IN" b="1" dirty="0"/>
              <a:t>directly</a:t>
            </a:r>
            <a:r>
              <a:rPr lang="en-IN" dirty="0"/>
              <a:t> - </a:t>
            </a:r>
            <a:r>
              <a:rPr lang="en-IN" b="1" dirty="0"/>
              <a:t>without creating an instance</a:t>
            </a:r>
            <a:r>
              <a:rPr lang="en-IN" dirty="0"/>
              <a:t> of a class.</a:t>
            </a:r>
          </a:p>
          <a:p>
            <a:r>
              <a:rPr lang="en-IN" dirty="0"/>
              <a:t>Static properties are declared with the </a:t>
            </a:r>
            <a:r>
              <a:rPr lang="en-IN" b="1" dirty="0"/>
              <a:t>static keyword</a:t>
            </a:r>
            <a:r>
              <a:rPr lang="en-IN" dirty="0"/>
              <a:t>.</a:t>
            </a:r>
          </a:p>
          <a:p>
            <a:r>
              <a:rPr lang="en-IN" dirty="0"/>
              <a:t>To access a static property use the </a:t>
            </a:r>
            <a:r>
              <a:rPr lang="en-IN" b="1" dirty="0"/>
              <a:t>class  name, double colon (::),</a:t>
            </a:r>
            <a:r>
              <a:rPr lang="en-IN" dirty="0"/>
              <a:t> and the property name. </a:t>
            </a:r>
          </a:p>
          <a:p>
            <a:r>
              <a:rPr lang="en-IN" dirty="0"/>
              <a:t>Syntax : </a:t>
            </a:r>
            <a:r>
              <a:rPr lang="en-IN" dirty="0" err="1"/>
              <a:t>class_name</a:t>
            </a:r>
            <a:r>
              <a:rPr lang="en-IN" dirty="0"/>
              <a:t> :: </a:t>
            </a:r>
            <a:r>
              <a:rPr lang="en-IN" dirty="0" err="1"/>
              <a:t>property_name</a:t>
            </a:r>
            <a:r>
              <a:rPr lang="en-IN" dirty="0"/>
              <a:t>;</a:t>
            </a:r>
          </a:p>
          <a:p>
            <a:r>
              <a:rPr lang="en-US" b="1" dirty="0"/>
              <a:t>Characteristics of Static Properties </a:t>
            </a:r>
            <a:r>
              <a:rPr lang="en-US" dirty="0"/>
              <a:t>:</a:t>
            </a:r>
          </a:p>
          <a:p>
            <a:pPr lvl="1"/>
            <a:r>
              <a:rPr lang="en-US" dirty="0"/>
              <a:t>It is initialized to </a:t>
            </a:r>
            <a:r>
              <a:rPr lang="en-US" b="1" dirty="0"/>
              <a:t>zero</a:t>
            </a:r>
            <a:r>
              <a:rPr lang="en-US" dirty="0"/>
              <a:t> when the </a:t>
            </a:r>
            <a:r>
              <a:rPr lang="en-US" b="1" dirty="0"/>
              <a:t>first object</a:t>
            </a:r>
            <a:r>
              <a:rPr lang="en-US" dirty="0"/>
              <a:t> of its class is created.</a:t>
            </a:r>
          </a:p>
          <a:p>
            <a:pPr lvl="1"/>
            <a:r>
              <a:rPr lang="en-US" dirty="0"/>
              <a:t>Only </a:t>
            </a:r>
            <a:r>
              <a:rPr lang="en-US" b="1" dirty="0"/>
              <a:t>one copy </a:t>
            </a:r>
            <a:r>
              <a:rPr lang="en-US" dirty="0"/>
              <a:t>of that member is created for the </a:t>
            </a:r>
            <a:r>
              <a:rPr lang="en-US" b="1" dirty="0"/>
              <a:t>entire class</a:t>
            </a:r>
            <a:r>
              <a:rPr lang="en-US" dirty="0"/>
              <a:t> and is </a:t>
            </a:r>
            <a:r>
              <a:rPr lang="en-US" b="1" dirty="0"/>
              <a:t>shared </a:t>
            </a:r>
            <a:r>
              <a:rPr lang="en-US" dirty="0"/>
              <a:t>by all the objects of that class, </a:t>
            </a:r>
            <a:r>
              <a:rPr lang="en-US" b="1" dirty="0"/>
              <a:t>no matter how many objects</a:t>
            </a:r>
            <a:r>
              <a:rPr lang="en-US" dirty="0"/>
              <a:t> are created.</a:t>
            </a:r>
          </a:p>
          <a:p>
            <a:pPr lvl="1"/>
            <a:r>
              <a:rPr lang="en-US" dirty="0"/>
              <a:t>Static variables are normally used to </a:t>
            </a:r>
            <a:r>
              <a:rPr lang="en-US" b="1" dirty="0"/>
              <a:t>maintain</a:t>
            </a:r>
            <a:r>
              <a:rPr lang="en-US" dirty="0"/>
              <a:t> values </a:t>
            </a:r>
            <a:r>
              <a:rPr lang="en-US" b="1" dirty="0"/>
              <a:t>common</a:t>
            </a:r>
            <a:r>
              <a:rPr lang="en-US" dirty="0"/>
              <a:t> to the entire class.</a:t>
            </a:r>
          </a:p>
        </p:txBody>
      </p:sp>
      <p:sp>
        <p:nvSpPr>
          <p:cNvPr id="4" name="Footer Placeholder 3">
            <a:extLst>
              <a:ext uri="{FF2B5EF4-FFF2-40B4-BE49-F238E27FC236}">
                <a16:creationId xmlns:a16="http://schemas.microsoft.com/office/drawing/2014/main" id="{1B279ED6-B346-4787-BA72-E779EB95572D}"/>
              </a:ext>
            </a:extLst>
          </p:cNvPr>
          <p:cNvSpPr>
            <a:spLocks noGrp="1"/>
          </p:cNvSpPr>
          <p:nvPr>
            <p:ph type="ftr" sz="quarter" idx="11"/>
          </p:nvPr>
        </p:nvSpPr>
        <p:spPr/>
        <p:txBody>
          <a:bodyPr/>
          <a:lstStyle/>
          <a:p>
            <a:r>
              <a:rPr lang="en-US" dirty="0"/>
              <a:t>Prepared by Deepali Sonawane, MIT-WPU, Pune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2365" y="235449"/>
            <a:ext cx="10363200" cy="626699"/>
          </a:xfrm>
        </p:spPr>
        <p:txBody>
          <a:bodyPr>
            <a:normAutofit fontScale="90000"/>
          </a:bodyPr>
          <a:lstStyle/>
          <a:p>
            <a:r>
              <a:rPr lang="en-US" b="1" dirty="0"/>
              <a:t>Static Properties Example</a:t>
            </a:r>
            <a:endParaRPr lang="en-IN" b="1" dirty="0"/>
          </a:p>
        </p:txBody>
      </p:sp>
      <p:sp>
        <p:nvSpPr>
          <p:cNvPr id="3" name="Content Placeholder 2"/>
          <p:cNvSpPr>
            <a:spLocks noGrp="1"/>
          </p:cNvSpPr>
          <p:nvPr>
            <p:ph sz="quarter" idx="1"/>
          </p:nvPr>
        </p:nvSpPr>
        <p:spPr>
          <a:xfrm>
            <a:off x="265611" y="925284"/>
            <a:ext cx="5377543" cy="5488579"/>
          </a:xfrm>
        </p:spPr>
        <p:txBody>
          <a:bodyPr>
            <a:normAutofit/>
          </a:bodyPr>
          <a:lstStyle/>
          <a:p>
            <a:r>
              <a:rPr lang="en-US" dirty="0"/>
              <a:t>Example:</a:t>
            </a:r>
          </a:p>
          <a:p>
            <a:pPr>
              <a:buNone/>
            </a:pPr>
            <a:r>
              <a:rPr lang="en-US" dirty="0"/>
              <a:t>    &lt;?</a:t>
            </a:r>
            <a:r>
              <a:rPr lang="en-US" dirty="0" err="1"/>
              <a:t>php</a:t>
            </a:r>
            <a:endParaRPr lang="en-US" dirty="0"/>
          </a:p>
          <a:p>
            <a:pPr>
              <a:buNone/>
            </a:pPr>
            <a:r>
              <a:rPr lang="en-US" dirty="0"/>
              <a:t>    class summation</a:t>
            </a:r>
          </a:p>
          <a:p>
            <a:pPr>
              <a:buNone/>
            </a:pPr>
            <a:r>
              <a:rPr lang="en-US" dirty="0"/>
              <a:t>	{</a:t>
            </a:r>
          </a:p>
          <a:p>
            <a:pPr>
              <a:buNone/>
            </a:pPr>
            <a:r>
              <a:rPr lang="en-US" dirty="0"/>
              <a:t>		public static $s=0;</a:t>
            </a:r>
          </a:p>
          <a:p>
            <a:pPr>
              <a:buNone/>
            </a:pPr>
            <a:r>
              <a:rPr lang="en-US" dirty="0"/>
              <a:t>	}</a:t>
            </a:r>
          </a:p>
          <a:p>
            <a:pPr>
              <a:buNone/>
            </a:pPr>
            <a:r>
              <a:rPr lang="en-US" dirty="0"/>
              <a:t>    echo “Static Variable is ”, summation::$s;</a:t>
            </a:r>
          </a:p>
          <a:p>
            <a:pPr>
              <a:buNone/>
            </a:pPr>
            <a:r>
              <a:rPr lang="en-US" dirty="0"/>
              <a:t>    ?&gt;</a:t>
            </a:r>
            <a:endParaRPr lang="en-IN" dirty="0"/>
          </a:p>
        </p:txBody>
      </p:sp>
      <p:sp>
        <p:nvSpPr>
          <p:cNvPr id="4" name="Content Placeholder 2"/>
          <p:cNvSpPr txBox="1">
            <a:spLocks/>
          </p:cNvSpPr>
          <p:nvPr/>
        </p:nvSpPr>
        <p:spPr>
          <a:xfrm>
            <a:off x="5995851" y="1077684"/>
            <a:ext cx="5377543" cy="5488579"/>
          </a:xfrm>
          <a:prstGeom prst="rect">
            <a:avLst/>
          </a:prstGeom>
        </p:spPr>
        <p:txBody>
          <a:bodyPr vert="horz">
            <a:normAutofit fontScale="55000" lnSpcReduction="20000"/>
          </a:bodyPr>
          <a:lstStyle/>
          <a:p>
            <a:pPr marL="274320" lvl="0" indent="-274320">
              <a:spcBef>
                <a:spcPts val="580"/>
              </a:spcBef>
              <a:buClr>
                <a:schemeClr val="accent1"/>
              </a:buClr>
              <a:buSzPct val="85000"/>
            </a:pPr>
            <a:r>
              <a:rPr lang="en-US" sz="2600" dirty="0"/>
              <a:t>	</a:t>
            </a:r>
            <a:r>
              <a:rPr lang="en-US" sz="2900" dirty="0"/>
              <a:t>class </a:t>
            </a:r>
            <a:r>
              <a:rPr lang="en-US" sz="2900" dirty="0" err="1"/>
              <a:t>StaticExample</a:t>
            </a:r>
            <a:endParaRPr lang="en-US" sz="2900" dirty="0"/>
          </a:p>
          <a:p>
            <a:pPr marL="274320" lvl="0" indent="-274320">
              <a:spcBef>
                <a:spcPts val="580"/>
              </a:spcBef>
              <a:buClr>
                <a:schemeClr val="accent1"/>
              </a:buClr>
              <a:buSzPct val="85000"/>
            </a:pPr>
            <a:r>
              <a:rPr lang="en-US" sz="2900" dirty="0"/>
              <a:t>	{</a:t>
            </a:r>
          </a:p>
          <a:p>
            <a:pPr marL="274320" lvl="0" indent="-274320">
              <a:spcBef>
                <a:spcPts val="580"/>
              </a:spcBef>
              <a:buClr>
                <a:schemeClr val="accent1"/>
              </a:buClr>
              <a:buSzPct val="85000"/>
            </a:pPr>
            <a:r>
              <a:rPr lang="en-US" sz="2900" dirty="0"/>
              <a:t>		public static $</a:t>
            </a:r>
            <a:r>
              <a:rPr lang="en-US" sz="2900" dirty="0" err="1"/>
              <a:t>cnt</a:t>
            </a:r>
            <a:r>
              <a:rPr lang="en-US" sz="2900" dirty="0"/>
              <a:t>;</a:t>
            </a:r>
          </a:p>
          <a:p>
            <a:pPr marL="274320" lvl="0" indent="-274320">
              <a:spcBef>
                <a:spcPts val="580"/>
              </a:spcBef>
              <a:buClr>
                <a:schemeClr val="accent1"/>
              </a:buClr>
              <a:buSzPct val="85000"/>
            </a:pPr>
            <a:r>
              <a:rPr lang="en-US" sz="2900" dirty="0"/>
              <a:t>		</a:t>
            </a:r>
            <a:r>
              <a:rPr lang="en-US" sz="2900" dirty="0" err="1"/>
              <a:t>var</a:t>
            </a:r>
            <a:r>
              <a:rPr lang="en-US" sz="2900" dirty="0"/>
              <a:t> $s;</a:t>
            </a:r>
          </a:p>
          <a:p>
            <a:pPr marL="274320" lvl="0" indent="-274320">
              <a:spcBef>
                <a:spcPts val="580"/>
              </a:spcBef>
              <a:buClr>
                <a:schemeClr val="accent1"/>
              </a:buClr>
              <a:buSzPct val="85000"/>
            </a:pPr>
            <a:r>
              <a:rPr lang="en-US" sz="2900" dirty="0"/>
              <a:t>		function get($n)</a:t>
            </a:r>
          </a:p>
          <a:p>
            <a:pPr marL="274320" lvl="0" indent="-274320">
              <a:spcBef>
                <a:spcPts val="580"/>
              </a:spcBef>
              <a:buClr>
                <a:schemeClr val="accent1"/>
              </a:buClr>
              <a:buSzPct val="85000"/>
            </a:pPr>
            <a:r>
              <a:rPr lang="en-US" sz="2900" dirty="0"/>
              <a:t>		{</a:t>
            </a:r>
          </a:p>
          <a:p>
            <a:pPr marL="274320" lvl="0" indent="-274320">
              <a:spcBef>
                <a:spcPts val="580"/>
              </a:spcBef>
              <a:buClr>
                <a:schemeClr val="accent1"/>
              </a:buClr>
              <a:buSzPct val="85000"/>
            </a:pPr>
            <a:r>
              <a:rPr lang="en-US" sz="2900" dirty="0"/>
              <a:t>			$this-&gt;s = $n;</a:t>
            </a:r>
          </a:p>
          <a:p>
            <a:pPr marL="274320" lvl="0" indent="-274320">
              <a:spcBef>
                <a:spcPts val="580"/>
              </a:spcBef>
              <a:buClr>
                <a:schemeClr val="accent1"/>
              </a:buClr>
              <a:buSzPct val="85000"/>
            </a:pPr>
            <a:r>
              <a:rPr lang="en-US" sz="2900" dirty="0"/>
              <a:t>			self::$</a:t>
            </a:r>
            <a:r>
              <a:rPr lang="en-US" sz="2900" dirty="0" err="1"/>
              <a:t>cnt</a:t>
            </a:r>
            <a:r>
              <a:rPr lang="en-US" sz="2900" dirty="0"/>
              <a:t>=self::$cnt+1;</a:t>
            </a:r>
          </a:p>
          <a:p>
            <a:pPr marL="274320" lvl="0" indent="-274320">
              <a:spcBef>
                <a:spcPts val="580"/>
              </a:spcBef>
              <a:buClr>
                <a:schemeClr val="accent1"/>
              </a:buClr>
              <a:buSzPct val="85000"/>
            </a:pPr>
            <a:r>
              <a:rPr lang="en-US" sz="2900" dirty="0"/>
              <a:t>		}</a:t>
            </a:r>
          </a:p>
          <a:p>
            <a:pPr marL="274320" lvl="0" indent="-274320">
              <a:spcBef>
                <a:spcPts val="580"/>
              </a:spcBef>
              <a:buClr>
                <a:schemeClr val="accent1"/>
              </a:buClr>
              <a:buSzPct val="85000"/>
            </a:pPr>
            <a:r>
              <a:rPr lang="en-US" sz="2900" dirty="0"/>
              <a:t>		function display()</a:t>
            </a:r>
          </a:p>
          <a:p>
            <a:pPr marL="274320" lvl="0" indent="-274320">
              <a:spcBef>
                <a:spcPts val="580"/>
              </a:spcBef>
              <a:buClr>
                <a:schemeClr val="accent1"/>
              </a:buClr>
              <a:buSzPct val="85000"/>
            </a:pPr>
            <a:r>
              <a:rPr lang="en-US" sz="2900" dirty="0"/>
              <a:t>		{</a:t>
            </a:r>
          </a:p>
          <a:p>
            <a:pPr marL="274320" lvl="0" indent="-274320">
              <a:spcBef>
                <a:spcPts val="580"/>
              </a:spcBef>
              <a:buClr>
                <a:schemeClr val="accent1"/>
              </a:buClr>
              <a:buSzPct val="85000"/>
            </a:pPr>
            <a:r>
              <a:rPr lang="en-US" sz="2900" dirty="0"/>
              <a:t>			echo "&lt;</a:t>
            </a:r>
            <a:r>
              <a:rPr lang="en-US" sz="2900" dirty="0" err="1"/>
              <a:t>br</a:t>
            </a:r>
            <a:r>
              <a:rPr lang="en-US" sz="2900" dirty="0"/>
              <a:t>&gt;Non Static value=",$this-&gt;s;</a:t>
            </a:r>
          </a:p>
          <a:p>
            <a:pPr marL="274320" lvl="0" indent="-274320">
              <a:spcBef>
                <a:spcPts val="580"/>
              </a:spcBef>
              <a:buClr>
                <a:schemeClr val="accent1"/>
              </a:buClr>
              <a:buSzPct val="85000"/>
            </a:pPr>
            <a:r>
              <a:rPr lang="en-US" sz="2900" dirty="0"/>
              <a:t>			echo "&lt;</a:t>
            </a:r>
            <a:r>
              <a:rPr lang="en-US" sz="2900" dirty="0" err="1"/>
              <a:t>br</a:t>
            </a:r>
            <a:r>
              <a:rPr lang="en-US" sz="2900" dirty="0"/>
              <a:t>&gt;Static value=",self::$</a:t>
            </a:r>
            <a:r>
              <a:rPr lang="en-US" sz="2900" dirty="0" err="1"/>
              <a:t>cnt</a:t>
            </a:r>
            <a:r>
              <a:rPr lang="en-US" sz="2900" dirty="0"/>
              <a:t>;</a:t>
            </a:r>
          </a:p>
          <a:p>
            <a:pPr marL="274320" lvl="0" indent="-274320">
              <a:spcBef>
                <a:spcPts val="580"/>
              </a:spcBef>
              <a:buClr>
                <a:schemeClr val="accent1"/>
              </a:buClr>
              <a:buSzPct val="85000"/>
            </a:pPr>
            <a:r>
              <a:rPr lang="en-US" sz="2900" dirty="0"/>
              <a:t>		}</a:t>
            </a:r>
          </a:p>
          <a:p>
            <a:pPr marL="274320" lvl="0" indent="-274320">
              <a:spcBef>
                <a:spcPts val="580"/>
              </a:spcBef>
              <a:buClr>
                <a:schemeClr val="accent1"/>
              </a:buClr>
              <a:buSzPct val="85000"/>
            </a:pPr>
            <a:r>
              <a:rPr lang="en-US" sz="2900" dirty="0"/>
              <a:t>	}</a:t>
            </a:r>
          </a:p>
          <a:p>
            <a:pPr marL="274320" lvl="0" indent="-274320">
              <a:spcBef>
                <a:spcPts val="580"/>
              </a:spcBef>
              <a:buClr>
                <a:schemeClr val="accent1"/>
              </a:buClr>
              <a:buSzPct val="85000"/>
            </a:pPr>
            <a:r>
              <a:rPr lang="en-US" sz="2900" dirty="0"/>
              <a:t>	$s1 = new </a:t>
            </a:r>
            <a:r>
              <a:rPr lang="en-US" sz="2900" dirty="0" err="1"/>
              <a:t>StaticExample</a:t>
            </a:r>
            <a:r>
              <a:rPr lang="en-US" sz="2900" dirty="0"/>
              <a:t>();</a:t>
            </a:r>
          </a:p>
          <a:p>
            <a:pPr marL="274320" lvl="0" indent="-274320">
              <a:spcBef>
                <a:spcPts val="580"/>
              </a:spcBef>
              <a:buClr>
                <a:schemeClr val="accent1"/>
              </a:buClr>
              <a:buSzPct val="85000"/>
            </a:pPr>
            <a:r>
              <a:rPr lang="en-US" sz="2900" dirty="0"/>
              <a:t>	$s1-&gt;get(4); $s1-&gt;display();</a:t>
            </a:r>
          </a:p>
          <a:p>
            <a:pPr marL="274320" lvl="0" indent="-274320">
              <a:spcBef>
                <a:spcPts val="580"/>
              </a:spcBef>
              <a:buClr>
                <a:schemeClr val="accent1"/>
              </a:buClr>
              <a:buSzPct val="85000"/>
            </a:pPr>
            <a:r>
              <a:rPr lang="en-US" sz="2900" dirty="0"/>
              <a:t>	$s2 = new </a:t>
            </a:r>
            <a:r>
              <a:rPr lang="en-US" sz="2900" dirty="0" err="1"/>
              <a:t>StaticExample</a:t>
            </a:r>
            <a:r>
              <a:rPr lang="en-US" sz="2900" dirty="0"/>
              <a:t>();</a:t>
            </a:r>
          </a:p>
          <a:p>
            <a:pPr marL="274320" lvl="0" indent="-274320">
              <a:spcBef>
                <a:spcPts val="580"/>
              </a:spcBef>
              <a:buClr>
                <a:schemeClr val="accent1"/>
              </a:buClr>
              <a:buSzPct val="85000"/>
            </a:pPr>
            <a:r>
              <a:rPr lang="en-US" sz="2900" dirty="0"/>
              <a:t>	$s2-&gt;get(41); $s1-&gt;display();</a:t>
            </a:r>
          </a:p>
        </p:txBody>
      </p:sp>
      <p:sp>
        <p:nvSpPr>
          <p:cNvPr id="5" name="Footer Placeholder 4">
            <a:extLst>
              <a:ext uri="{FF2B5EF4-FFF2-40B4-BE49-F238E27FC236}">
                <a16:creationId xmlns:a16="http://schemas.microsoft.com/office/drawing/2014/main" id="{E94174C1-4715-4C44-82AB-1DFAC1290AC2}"/>
              </a:ext>
            </a:extLst>
          </p:cNvPr>
          <p:cNvSpPr>
            <a:spLocks noGrp="1"/>
          </p:cNvSpPr>
          <p:nvPr>
            <p:ph type="ftr" sz="quarter" idx="11"/>
          </p:nvPr>
        </p:nvSpPr>
        <p:spPr/>
        <p:txBody>
          <a:bodyPr/>
          <a:lstStyle/>
          <a:p>
            <a:r>
              <a:rPr lang="en-US" dirty="0"/>
              <a:t>Prepared by Deepali Sonawane, MIT-WPU, Pune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74638"/>
            <a:ext cx="10363200" cy="626699"/>
          </a:xfrm>
        </p:spPr>
        <p:txBody>
          <a:bodyPr>
            <a:normAutofit fontScale="90000"/>
          </a:bodyPr>
          <a:lstStyle/>
          <a:p>
            <a:r>
              <a:rPr lang="en-US" b="1" dirty="0"/>
              <a:t>Static Methods</a:t>
            </a:r>
            <a:endParaRPr lang="en-IN" b="1" dirty="0"/>
          </a:p>
        </p:txBody>
      </p:sp>
      <p:sp>
        <p:nvSpPr>
          <p:cNvPr id="3" name="Content Placeholder 2"/>
          <p:cNvSpPr>
            <a:spLocks noGrp="1"/>
          </p:cNvSpPr>
          <p:nvPr>
            <p:ph sz="quarter" idx="1"/>
          </p:nvPr>
        </p:nvSpPr>
        <p:spPr>
          <a:xfrm>
            <a:off x="1140823" y="912221"/>
            <a:ext cx="10363200" cy="5488579"/>
          </a:xfrm>
        </p:spPr>
        <p:txBody>
          <a:bodyPr>
            <a:normAutofit fontScale="92500" lnSpcReduction="10000"/>
          </a:bodyPr>
          <a:lstStyle/>
          <a:p>
            <a:r>
              <a:rPr lang="en-IN" dirty="0"/>
              <a:t>Static methods can be called </a:t>
            </a:r>
            <a:r>
              <a:rPr lang="en-IN" b="1" dirty="0"/>
              <a:t>directly</a:t>
            </a:r>
            <a:r>
              <a:rPr lang="en-IN" dirty="0"/>
              <a:t> - without </a:t>
            </a:r>
            <a:r>
              <a:rPr lang="en-IN" b="1" dirty="0"/>
              <a:t>creating an instance of a class</a:t>
            </a:r>
            <a:r>
              <a:rPr lang="en-IN" dirty="0"/>
              <a:t>.</a:t>
            </a:r>
          </a:p>
          <a:p>
            <a:r>
              <a:rPr lang="en-IN" dirty="0"/>
              <a:t>Static methods are declared with the </a:t>
            </a:r>
            <a:r>
              <a:rPr lang="en-IN" b="1" dirty="0"/>
              <a:t>static</a:t>
            </a:r>
            <a:r>
              <a:rPr lang="en-IN" dirty="0"/>
              <a:t> keyword.</a:t>
            </a:r>
          </a:p>
          <a:p>
            <a:r>
              <a:rPr lang="en-IN" dirty="0"/>
              <a:t>To access a static method use the </a:t>
            </a:r>
            <a:r>
              <a:rPr lang="en-IN" b="1" dirty="0"/>
              <a:t>class name</a:t>
            </a:r>
            <a:r>
              <a:rPr lang="en-IN" dirty="0"/>
              <a:t>, double colon (::), and the method name.</a:t>
            </a:r>
          </a:p>
          <a:p>
            <a:r>
              <a:rPr lang="en-IN" dirty="0"/>
              <a:t>Syntax : </a:t>
            </a:r>
            <a:r>
              <a:rPr lang="en-IN" dirty="0" err="1"/>
              <a:t>class_name</a:t>
            </a:r>
            <a:r>
              <a:rPr lang="en-IN" dirty="0"/>
              <a:t> :: </a:t>
            </a:r>
            <a:r>
              <a:rPr lang="en-IN" dirty="0" err="1"/>
              <a:t>method_name</a:t>
            </a:r>
            <a:r>
              <a:rPr lang="en-IN" dirty="0"/>
              <a:t>();</a:t>
            </a:r>
          </a:p>
          <a:p>
            <a:r>
              <a:rPr lang="en-US" dirty="0"/>
              <a:t>A static methods can have access to </a:t>
            </a:r>
            <a:r>
              <a:rPr lang="en-US" b="1" dirty="0"/>
              <a:t>only other static members </a:t>
            </a:r>
            <a:r>
              <a:rPr lang="en-US" dirty="0"/>
              <a:t>declared in the same class.</a:t>
            </a:r>
            <a:endParaRPr lang="en-IN" dirty="0"/>
          </a:p>
          <a:p>
            <a:r>
              <a:rPr lang="en-US" dirty="0"/>
              <a:t>Example:</a:t>
            </a:r>
          </a:p>
          <a:p>
            <a:pPr>
              <a:buNone/>
            </a:pPr>
            <a:r>
              <a:rPr lang="en-US" dirty="0"/>
              <a:t>    class </a:t>
            </a:r>
            <a:r>
              <a:rPr lang="en-US" sz="2800" dirty="0" err="1"/>
              <a:t>StaticExample</a:t>
            </a:r>
            <a:endParaRPr lang="en-US" dirty="0"/>
          </a:p>
          <a:p>
            <a:pPr>
              <a:buNone/>
            </a:pPr>
            <a:r>
              <a:rPr lang="en-US" dirty="0"/>
              <a:t>	{</a:t>
            </a:r>
          </a:p>
          <a:p>
            <a:pPr>
              <a:buNone/>
            </a:pPr>
            <a:r>
              <a:rPr lang="en-US" dirty="0"/>
              <a:t>		static function display()</a:t>
            </a:r>
          </a:p>
          <a:p>
            <a:pPr>
              <a:buNone/>
            </a:pPr>
            <a:r>
              <a:rPr lang="en-US" dirty="0"/>
              <a:t>		{ echo “Example of static method!!!”;}</a:t>
            </a:r>
          </a:p>
          <a:p>
            <a:pPr>
              <a:buNone/>
            </a:pPr>
            <a:r>
              <a:rPr lang="en-US" dirty="0"/>
              <a:t>	}</a:t>
            </a:r>
          </a:p>
          <a:p>
            <a:pPr>
              <a:buNone/>
            </a:pPr>
            <a:r>
              <a:rPr lang="en-US" dirty="0"/>
              <a:t>    </a:t>
            </a:r>
            <a:r>
              <a:rPr lang="en-US" sz="2400" dirty="0" err="1"/>
              <a:t>StaticExample</a:t>
            </a:r>
            <a:r>
              <a:rPr lang="en-US" sz="2400" dirty="0"/>
              <a:t>::display() </a:t>
            </a:r>
            <a:r>
              <a:rPr lang="en-US" dirty="0"/>
              <a:t>;</a:t>
            </a:r>
          </a:p>
          <a:p>
            <a:endParaRPr lang="en-IN" dirty="0"/>
          </a:p>
        </p:txBody>
      </p:sp>
      <p:sp>
        <p:nvSpPr>
          <p:cNvPr id="4" name="Footer Placeholder 3">
            <a:extLst>
              <a:ext uri="{FF2B5EF4-FFF2-40B4-BE49-F238E27FC236}">
                <a16:creationId xmlns:a16="http://schemas.microsoft.com/office/drawing/2014/main" id="{FD970BAC-C07A-4BBE-941A-32FB8FEC3593}"/>
              </a:ext>
            </a:extLst>
          </p:cNvPr>
          <p:cNvSpPr>
            <a:spLocks noGrp="1"/>
          </p:cNvSpPr>
          <p:nvPr>
            <p:ph type="ftr" sz="quarter" idx="11"/>
          </p:nvPr>
        </p:nvSpPr>
        <p:spPr/>
        <p:txBody>
          <a:bodyPr/>
          <a:lstStyle/>
          <a:p>
            <a:r>
              <a:rPr lang="en-US"/>
              <a:t>Prepared by Deepali Sonawane, MIT-WPU, Pune</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74638"/>
            <a:ext cx="10363200" cy="626699"/>
          </a:xfrm>
        </p:spPr>
        <p:txBody>
          <a:bodyPr>
            <a:normAutofit fontScale="90000"/>
          </a:bodyPr>
          <a:lstStyle/>
          <a:p>
            <a:r>
              <a:rPr lang="en-US" b="1" dirty="0"/>
              <a:t>Static Methods Example</a:t>
            </a:r>
            <a:endParaRPr lang="en-IN" b="1" dirty="0"/>
          </a:p>
        </p:txBody>
      </p:sp>
      <p:sp>
        <p:nvSpPr>
          <p:cNvPr id="3" name="Content Placeholder 2"/>
          <p:cNvSpPr>
            <a:spLocks noGrp="1"/>
          </p:cNvSpPr>
          <p:nvPr>
            <p:ph sz="quarter" idx="1"/>
          </p:nvPr>
        </p:nvSpPr>
        <p:spPr>
          <a:xfrm>
            <a:off x="1140823" y="912221"/>
            <a:ext cx="10363200" cy="5488579"/>
          </a:xfrm>
        </p:spPr>
        <p:txBody>
          <a:bodyPr>
            <a:normAutofit fontScale="62500" lnSpcReduction="20000"/>
          </a:bodyPr>
          <a:lstStyle/>
          <a:p>
            <a:pPr>
              <a:buNone/>
            </a:pPr>
            <a:r>
              <a:rPr lang="en-IN" dirty="0"/>
              <a:t>	</a:t>
            </a:r>
            <a:r>
              <a:rPr lang="en-IN" sz="2900" dirty="0"/>
              <a:t>class </a:t>
            </a:r>
            <a:r>
              <a:rPr lang="en-IN" sz="2900" dirty="0" err="1"/>
              <a:t>StaticExample</a:t>
            </a:r>
            <a:endParaRPr lang="en-IN" sz="2900" dirty="0"/>
          </a:p>
          <a:p>
            <a:pPr>
              <a:buNone/>
            </a:pPr>
            <a:r>
              <a:rPr lang="en-IN" sz="2900" dirty="0"/>
              <a:t>	{</a:t>
            </a:r>
          </a:p>
          <a:p>
            <a:pPr>
              <a:buNone/>
            </a:pPr>
            <a:r>
              <a:rPr lang="en-IN" sz="2900" dirty="0"/>
              <a:t>		public static $</a:t>
            </a:r>
            <a:r>
              <a:rPr lang="en-IN" sz="2900" dirty="0" err="1"/>
              <a:t>cnt</a:t>
            </a:r>
            <a:r>
              <a:rPr lang="en-IN" sz="2900" dirty="0"/>
              <a:t>;</a:t>
            </a:r>
          </a:p>
          <a:p>
            <a:pPr>
              <a:buNone/>
            </a:pPr>
            <a:r>
              <a:rPr lang="en-IN" sz="2900" dirty="0"/>
              <a:t>		</a:t>
            </a:r>
            <a:r>
              <a:rPr lang="en-IN" sz="2900" dirty="0" err="1"/>
              <a:t>var</a:t>
            </a:r>
            <a:r>
              <a:rPr lang="en-IN" sz="2900" dirty="0"/>
              <a:t> $s;</a:t>
            </a:r>
          </a:p>
          <a:p>
            <a:pPr>
              <a:buNone/>
            </a:pPr>
            <a:r>
              <a:rPr lang="en-IN" sz="2900" dirty="0"/>
              <a:t>		function get($n)</a:t>
            </a:r>
          </a:p>
          <a:p>
            <a:pPr>
              <a:buNone/>
            </a:pPr>
            <a:r>
              <a:rPr lang="en-IN" sz="2900" dirty="0"/>
              <a:t>		{</a:t>
            </a:r>
          </a:p>
          <a:p>
            <a:pPr>
              <a:buNone/>
            </a:pPr>
            <a:r>
              <a:rPr lang="en-IN" sz="2900" dirty="0"/>
              <a:t>			$this-&gt;s = $n;</a:t>
            </a:r>
          </a:p>
          <a:p>
            <a:pPr>
              <a:buNone/>
            </a:pPr>
            <a:r>
              <a:rPr lang="en-IN" sz="2900" dirty="0"/>
              <a:t>			self::$</a:t>
            </a:r>
            <a:r>
              <a:rPr lang="en-IN" sz="2900" dirty="0" err="1"/>
              <a:t>cnt</a:t>
            </a:r>
            <a:r>
              <a:rPr lang="en-IN" sz="2900" dirty="0"/>
              <a:t>=self::$cnt+1;</a:t>
            </a:r>
          </a:p>
          <a:p>
            <a:pPr>
              <a:buNone/>
            </a:pPr>
            <a:r>
              <a:rPr lang="en-IN" sz="2900" dirty="0"/>
              <a:t>		}</a:t>
            </a:r>
          </a:p>
          <a:p>
            <a:pPr>
              <a:buNone/>
            </a:pPr>
            <a:r>
              <a:rPr lang="en-IN" sz="2900" dirty="0"/>
              <a:t>		static function </a:t>
            </a:r>
            <a:r>
              <a:rPr lang="en-IN" sz="2900" dirty="0" err="1"/>
              <a:t>displayS</a:t>
            </a:r>
            <a:r>
              <a:rPr lang="en-IN" sz="2900" dirty="0"/>
              <a:t>()</a:t>
            </a:r>
          </a:p>
          <a:p>
            <a:pPr>
              <a:buNone/>
            </a:pPr>
            <a:r>
              <a:rPr lang="en-IN" sz="2900" dirty="0"/>
              <a:t>		{ echo "&lt;</a:t>
            </a:r>
            <a:r>
              <a:rPr lang="en-IN" sz="2900" dirty="0" err="1"/>
              <a:t>br</a:t>
            </a:r>
            <a:r>
              <a:rPr lang="en-IN" sz="2900" dirty="0"/>
              <a:t>&gt;Static value=",self::$</a:t>
            </a:r>
            <a:r>
              <a:rPr lang="en-IN" sz="2900" dirty="0" err="1"/>
              <a:t>cnt</a:t>
            </a:r>
            <a:r>
              <a:rPr lang="en-IN" sz="2900" dirty="0"/>
              <a:t>; }</a:t>
            </a:r>
          </a:p>
          <a:p>
            <a:pPr>
              <a:buNone/>
            </a:pPr>
            <a:r>
              <a:rPr lang="en-IN" sz="2900" dirty="0"/>
              <a:t>		function display()</a:t>
            </a:r>
          </a:p>
          <a:p>
            <a:pPr>
              <a:buNone/>
            </a:pPr>
            <a:r>
              <a:rPr lang="en-IN" sz="2900" dirty="0"/>
              <a:t>		{ echo "&lt;</a:t>
            </a:r>
            <a:r>
              <a:rPr lang="en-IN" sz="2900" dirty="0" err="1"/>
              <a:t>br</a:t>
            </a:r>
            <a:r>
              <a:rPr lang="en-IN" sz="2900" dirty="0"/>
              <a:t>&gt;Non Static value=",$this-&gt;s; }</a:t>
            </a:r>
          </a:p>
          <a:p>
            <a:pPr>
              <a:buNone/>
            </a:pPr>
            <a:r>
              <a:rPr lang="en-IN" sz="2900" dirty="0"/>
              <a:t>	}	</a:t>
            </a:r>
          </a:p>
          <a:p>
            <a:pPr>
              <a:buNone/>
            </a:pPr>
            <a:r>
              <a:rPr lang="en-IN" sz="2900" dirty="0"/>
              <a:t>	$s1 = new </a:t>
            </a:r>
            <a:r>
              <a:rPr lang="en-IN" sz="2900" dirty="0" err="1"/>
              <a:t>StaticExample</a:t>
            </a:r>
            <a:r>
              <a:rPr lang="en-IN" sz="2900" dirty="0"/>
              <a:t>();</a:t>
            </a:r>
          </a:p>
          <a:p>
            <a:pPr>
              <a:buNone/>
            </a:pPr>
            <a:r>
              <a:rPr lang="en-IN" sz="2900" dirty="0"/>
              <a:t>	$s1-&gt;get(4); </a:t>
            </a:r>
            <a:r>
              <a:rPr lang="en-IN" sz="2900" dirty="0" err="1"/>
              <a:t>StaticExample</a:t>
            </a:r>
            <a:r>
              <a:rPr lang="en-IN" sz="2900" dirty="0"/>
              <a:t> ::</a:t>
            </a:r>
            <a:r>
              <a:rPr lang="en-IN" sz="2900" dirty="0" err="1"/>
              <a:t>displayS</a:t>
            </a:r>
            <a:r>
              <a:rPr lang="en-IN" sz="2900" dirty="0"/>
              <a:t>();    $s1-&gt;display();</a:t>
            </a:r>
          </a:p>
          <a:p>
            <a:pPr>
              <a:buNone/>
            </a:pPr>
            <a:r>
              <a:rPr lang="en-IN" sz="2900" dirty="0"/>
              <a:t>	$s2 =new </a:t>
            </a:r>
            <a:r>
              <a:rPr lang="en-IN" sz="2900" dirty="0" err="1"/>
              <a:t>StaticExample</a:t>
            </a:r>
            <a:r>
              <a:rPr lang="en-IN" sz="2900" dirty="0"/>
              <a:t>();</a:t>
            </a:r>
          </a:p>
          <a:p>
            <a:pPr>
              <a:buNone/>
            </a:pPr>
            <a:r>
              <a:rPr lang="en-IN" sz="2900" dirty="0"/>
              <a:t>	$s2-&gt;get(41);   $s2::</a:t>
            </a:r>
            <a:r>
              <a:rPr lang="en-IN" sz="2900" dirty="0" err="1"/>
              <a:t>displayS</a:t>
            </a:r>
            <a:r>
              <a:rPr lang="en-IN" sz="2900" dirty="0"/>
              <a:t>();    $s2-&gt;display();</a:t>
            </a:r>
          </a:p>
        </p:txBody>
      </p:sp>
      <p:sp>
        <p:nvSpPr>
          <p:cNvPr id="4" name="Footer Placeholder 3">
            <a:extLst>
              <a:ext uri="{FF2B5EF4-FFF2-40B4-BE49-F238E27FC236}">
                <a16:creationId xmlns:a16="http://schemas.microsoft.com/office/drawing/2014/main" id="{8A889857-DD97-4422-8FA3-46165E6F45D8}"/>
              </a:ext>
            </a:extLst>
          </p:cNvPr>
          <p:cNvSpPr>
            <a:spLocks noGrp="1"/>
          </p:cNvSpPr>
          <p:nvPr>
            <p:ph type="ftr" sz="quarter" idx="11"/>
          </p:nvPr>
        </p:nvSpPr>
        <p:spPr/>
        <p:txBody>
          <a:bodyPr/>
          <a:lstStyle/>
          <a:p>
            <a:r>
              <a:rPr lang="en-US" dirty="0"/>
              <a:t>Prepared by Deepali Sonawane, MIT-WPU, Pune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74638"/>
            <a:ext cx="10363200" cy="626699"/>
          </a:xfrm>
        </p:spPr>
        <p:txBody>
          <a:bodyPr>
            <a:normAutofit fontScale="90000"/>
          </a:bodyPr>
          <a:lstStyle/>
          <a:p>
            <a:r>
              <a:rPr lang="en-US" b="1"/>
              <a:t>Inheritance</a:t>
            </a:r>
            <a:endParaRPr lang="en-IN" b="1" dirty="0"/>
          </a:p>
        </p:txBody>
      </p:sp>
      <p:sp>
        <p:nvSpPr>
          <p:cNvPr id="3" name="Content Placeholder 2"/>
          <p:cNvSpPr>
            <a:spLocks noGrp="1"/>
          </p:cNvSpPr>
          <p:nvPr>
            <p:ph sz="quarter" idx="1"/>
          </p:nvPr>
        </p:nvSpPr>
        <p:spPr>
          <a:xfrm>
            <a:off x="470263" y="912221"/>
            <a:ext cx="11251474" cy="5488579"/>
          </a:xfrm>
        </p:spPr>
        <p:txBody>
          <a:bodyPr>
            <a:normAutofit/>
          </a:bodyPr>
          <a:lstStyle/>
          <a:p>
            <a:r>
              <a:rPr lang="en-IN" dirty="0"/>
              <a:t>The mechanism of creating new classes from an existing class is called a </a:t>
            </a:r>
            <a:r>
              <a:rPr lang="en-IN" b="1" dirty="0"/>
              <a:t>inheritance. </a:t>
            </a:r>
          </a:p>
          <a:p>
            <a:r>
              <a:rPr lang="en-US" dirty="0"/>
              <a:t>The old class or existing class is known as </a:t>
            </a:r>
            <a:r>
              <a:rPr lang="en-US" b="1" dirty="0"/>
              <a:t>base class or parent class or superclass</a:t>
            </a:r>
            <a:endParaRPr lang="en-US" dirty="0"/>
          </a:p>
          <a:p>
            <a:r>
              <a:rPr lang="en-US" dirty="0"/>
              <a:t>The newly created class is called as </a:t>
            </a:r>
            <a:r>
              <a:rPr lang="en-US" b="1" dirty="0"/>
              <a:t>derived class or child class or subclass</a:t>
            </a:r>
            <a:r>
              <a:rPr lang="en-US" dirty="0"/>
              <a:t>. To create derived class </a:t>
            </a:r>
            <a:r>
              <a:rPr lang="en-US" b="1" dirty="0"/>
              <a:t>extends</a:t>
            </a:r>
            <a:r>
              <a:rPr lang="en-US" dirty="0"/>
              <a:t> keyword is used.</a:t>
            </a:r>
          </a:p>
          <a:p>
            <a:r>
              <a:rPr lang="en-US" dirty="0"/>
              <a:t>In some OOP languages, the base and derived classes are called as super and subclasses respectively.</a:t>
            </a:r>
          </a:p>
          <a:p>
            <a:pPr>
              <a:buNone/>
            </a:pPr>
            <a:r>
              <a:rPr lang="en-US" dirty="0"/>
              <a:t>Base class/Super class/ Parent class			</a:t>
            </a:r>
          </a:p>
          <a:p>
            <a:pPr>
              <a:buNone/>
            </a:pPr>
            <a:endParaRPr lang="en-US" dirty="0"/>
          </a:p>
          <a:p>
            <a:pPr>
              <a:buNone/>
            </a:pPr>
            <a:endParaRPr lang="en-US" dirty="0"/>
          </a:p>
          <a:p>
            <a:pPr>
              <a:buNone/>
            </a:pPr>
            <a:r>
              <a:rPr lang="en-US" dirty="0"/>
              <a:t>Derived class/Sub class / Child class			</a:t>
            </a:r>
            <a:endParaRPr lang="en-IN" dirty="0"/>
          </a:p>
        </p:txBody>
      </p:sp>
      <p:grpSp>
        <p:nvGrpSpPr>
          <p:cNvPr id="11" name="Group 10"/>
          <p:cNvGrpSpPr/>
          <p:nvPr/>
        </p:nvGrpSpPr>
        <p:grpSpPr>
          <a:xfrm>
            <a:off x="5852160" y="3631475"/>
            <a:ext cx="936172" cy="1824446"/>
            <a:chOff x="5852160" y="3631475"/>
            <a:chExt cx="936172" cy="1824446"/>
          </a:xfrm>
        </p:grpSpPr>
        <p:sp>
          <p:nvSpPr>
            <p:cNvPr id="4" name="Rectangle 3"/>
            <p:cNvSpPr/>
            <p:nvPr/>
          </p:nvSpPr>
          <p:spPr>
            <a:xfrm>
              <a:off x="5852160" y="3631475"/>
              <a:ext cx="914400" cy="5747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A</a:t>
              </a:r>
              <a:endParaRPr lang="en-IN" sz="3200" dirty="0">
                <a:solidFill>
                  <a:schemeClr val="tx1"/>
                </a:solidFill>
              </a:endParaRPr>
            </a:p>
          </p:txBody>
        </p:sp>
        <p:sp>
          <p:nvSpPr>
            <p:cNvPr id="5" name="Rectangle 4"/>
            <p:cNvSpPr/>
            <p:nvPr/>
          </p:nvSpPr>
          <p:spPr>
            <a:xfrm>
              <a:off x="5873932" y="4881155"/>
              <a:ext cx="914400" cy="5747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B</a:t>
              </a:r>
              <a:endParaRPr lang="en-IN" sz="3200" dirty="0">
                <a:solidFill>
                  <a:schemeClr val="tx1"/>
                </a:solidFill>
              </a:endParaRPr>
            </a:p>
          </p:txBody>
        </p:sp>
        <p:cxnSp>
          <p:nvCxnSpPr>
            <p:cNvPr id="7" name="Straight Arrow Connector 6"/>
            <p:cNvCxnSpPr>
              <a:stCxn id="4" idx="2"/>
              <a:endCxn id="5" idx="0"/>
            </p:cNvCxnSpPr>
            <p:nvPr/>
          </p:nvCxnSpPr>
          <p:spPr>
            <a:xfrm>
              <a:off x="6309360" y="4206241"/>
              <a:ext cx="21772" cy="67491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6" name="Footer Placeholder 5">
            <a:extLst>
              <a:ext uri="{FF2B5EF4-FFF2-40B4-BE49-F238E27FC236}">
                <a16:creationId xmlns:a16="http://schemas.microsoft.com/office/drawing/2014/main" id="{EE53A429-9AB3-42BF-BF7D-CE699F47AF89}"/>
              </a:ext>
            </a:extLst>
          </p:cNvPr>
          <p:cNvSpPr>
            <a:spLocks noGrp="1"/>
          </p:cNvSpPr>
          <p:nvPr>
            <p:ph type="ftr" sz="quarter" idx="11"/>
          </p:nvPr>
        </p:nvSpPr>
        <p:spPr/>
        <p:txBody>
          <a:bodyPr/>
          <a:lstStyle/>
          <a:p>
            <a:r>
              <a:rPr lang="en-US"/>
              <a:t>Prepared by Deepali Sonawane, MIT-WPU, Pune</a:t>
            </a:r>
            <a:endParaRPr lang="en-US" dirty="0"/>
          </a:p>
        </p:txBody>
      </p:sp>
      <p:sp>
        <p:nvSpPr>
          <p:cNvPr id="9" name="Content Placeholder 2">
            <a:extLst>
              <a:ext uri="{FF2B5EF4-FFF2-40B4-BE49-F238E27FC236}">
                <a16:creationId xmlns:a16="http://schemas.microsoft.com/office/drawing/2014/main" id="{7C42FF7A-903B-4161-B167-365232712571}"/>
              </a:ext>
            </a:extLst>
          </p:cNvPr>
          <p:cNvSpPr txBox="1">
            <a:spLocks/>
          </p:cNvSpPr>
          <p:nvPr/>
        </p:nvSpPr>
        <p:spPr>
          <a:xfrm>
            <a:off x="7869519" y="3207026"/>
            <a:ext cx="3852218" cy="3204658"/>
          </a:xfrm>
          <a:prstGeom prst="rect">
            <a:avLst/>
          </a:prstGeom>
        </p:spPr>
        <p:txBody>
          <a:bodyPr vert="horz">
            <a:normAutofit fontScale="92500" lnSpcReduction="20000"/>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indent="0">
              <a:buNone/>
            </a:pPr>
            <a:r>
              <a:rPr lang="en-IN" dirty="0"/>
              <a:t>class A </a:t>
            </a:r>
          </a:p>
          <a:p>
            <a:pPr marL="0" indent="0">
              <a:buNone/>
            </a:pPr>
            <a:r>
              <a:rPr lang="en-IN" dirty="0"/>
              <a:t>{</a:t>
            </a:r>
          </a:p>
          <a:p>
            <a:pPr marL="0" indent="0">
              <a:buNone/>
            </a:pPr>
            <a:r>
              <a:rPr lang="en-IN" dirty="0"/>
              <a:t>	 //definition of class A</a:t>
            </a:r>
          </a:p>
          <a:p>
            <a:pPr marL="0" indent="0">
              <a:buNone/>
            </a:pPr>
            <a:r>
              <a:rPr lang="en-IN" dirty="0"/>
              <a:t>}</a:t>
            </a:r>
          </a:p>
          <a:p>
            <a:pPr marL="0" indent="0">
              <a:buNone/>
            </a:pPr>
            <a:r>
              <a:rPr lang="en-IN" dirty="0"/>
              <a:t>class B </a:t>
            </a:r>
            <a:r>
              <a:rPr lang="en-IN" b="1" dirty="0">
                <a:solidFill>
                  <a:srgbClr val="0070C0"/>
                </a:solidFill>
              </a:rPr>
              <a:t>extends</a:t>
            </a:r>
            <a:r>
              <a:rPr lang="en-IN" dirty="0"/>
              <a:t> A</a:t>
            </a:r>
          </a:p>
          <a:p>
            <a:pPr marL="0" indent="0">
              <a:buNone/>
            </a:pPr>
            <a:r>
              <a:rPr lang="en-IN" dirty="0"/>
              <a:t>{</a:t>
            </a:r>
          </a:p>
          <a:p>
            <a:pPr marL="0" indent="0">
              <a:buNone/>
            </a:pPr>
            <a:r>
              <a:rPr lang="en-IN" dirty="0"/>
              <a:t>	//definition of class B</a:t>
            </a:r>
          </a:p>
          <a:p>
            <a:pPr marL="0" indent="0">
              <a:buNone/>
            </a:pPr>
            <a:r>
              <a:rPr lang="en-IN" dirty="0"/>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7314" y="248513"/>
            <a:ext cx="10785566" cy="626699"/>
          </a:xfrm>
        </p:spPr>
        <p:txBody>
          <a:bodyPr>
            <a:normAutofit fontScale="90000"/>
          </a:bodyPr>
          <a:lstStyle/>
          <a:p>
            <a:r>
              <a:rPr lang="en-US" b="1" dirty="0"/>
              <a:t>Advantages and Disadvantages of Inheritance</a:t>
            </a:r>
            <a:endParaRPr lang="en-IN" b="1" dirty="0"/>
          </a:p>
        </p:txBody>
      </p:sp>
      <p:sp>
        <p:nvSpPr>
          <p:cNvPr id="3" name="Content Placeholder 2"/>
          <p:cNvSpPr>
            <a:spLocks noGrp="1"/>
          </p:cNvSpPr>
          <p:nvPr>
            <p:ph sz="quarter" idx="1"/>
          </p:nvPr>
        </p:nvSpPr>
        <p:spPr>
          <a:xfrm>
            <a:off x="535576" y="899159"/>
            <a:ext cx="11482251" cy="2653938"/>
          </a:xfrm>
        </p:spPr>
        <p:txBody>
          <a:bodyPr>
            <a:normAutofit fontScale="92500" lnSpcReduction="20000"/>
          </a:bodyPr>
          <a:lstStyle/>
          <a:p>
            <a:pPr marL="514350" indent="-514350">
              <a:buNone/>
            </a:pPr>
            <a:r>
              <a:rPr lang="en-US" b="1" dirty="0"/>
              <a:t>Advantages of Inheritance</a:t>
            </a:r>
            <a:endParaRPr lang="en-IN" b="1" dirty="0"/>
          </a:p>
          <a:p>
            <a:pPr marL="514350" indent="-514350">
              <a:buFont typeface="+mj-lt"/>
              <a:buAutoNum type="arabicPeriod"/>
            </a:pPr>
            <a:r>
              <a:rPr lang="en-IN" b="1" dirty="0"/>
              <a:t>Reusability</a:t>
            </a:r>
            <a:r>
              <a:rPr lang="en-IN" dirty="0"/>
              <a:t> - Facility to use public methods of base class without rewriting the same.</a:t>
            </a:r>
          </a:p>
          <a:p>
            <a:pPr marL="514350" indent="-514350">
              <a:buFont typeface="+mj-lt"/>
              <a:buAutoNum type="arabicPeriod"/>
            </a:pPr>
            <a:r>
              <a:rPr lang="en-IN" b="1" dirty="0"/>
              <a:t>Extensibility</a:t>
            </a:r>
            <a:r>
              <a:rPr lang="en-IN" dirty="0"/>
              <a:t> - Extending the base class logic as per business logic of the derived class.</a:t>
            </a:r>
          </a:p>
          <a:p>
            <a:pPr marL="514350" indent="-514350">
              <a:buFont typeface="+mj-lt"/>
              <a:buAutoNum type="arabicPeriod"/>
            </a:pPr>
            <a:r>
              <a:rPr lang="en-IN" b="1" dirty="0"/>
              <a:t>Data hiding</a:t>
            </a:r>
            <a:r>
              <a:rPr lang="en-IN" dirty="0"/>
              <a:t> - Base class can decide to keep some data private so that it cannot be altered by the derived class</a:t>
            </a:r>
          </a:p>
          <a:p>
            <a:pPr marL="514350" indent="-514350">
              <a:buFont typeface="+mj-lt"/>
              <a:buAutoNum type="arabicPeriod"/>
            </a:pPr>
            <a:r>
              <a:rPr lang="en-IN" b="1" dirty="0"/>
              <a:t>Overriding </a:t>
            </a:r>
            <a:r>
              <a:rPr lang="en-IN" dirty="0"/>
              <a:t>-With inheritance, we will be able to override the methods of the base class so that meaningful implementation of the base class method can be designed in the derived class.</a:t>
            </a:r>
          </a:p>
        </p:txBody>
      </p:sp>
      <p:sp>
        <p:nvSpPr>
          <p:cNvPr id="8" name="Content Placeholder 2"/>
          <p:cNvSpPr txBox="1">
            <a:spLocks/>
          </p:cNvSpPr>
          <p:nvPr/>
        </p:nvSpPr>
        <p:spPr>
          <a:xfrm>
            <a:off x="574766" y="3616234"/>
            <a:ext cx="11377749" cy="2784568"/>
          </a:xfrm>
          <a:prstGeom prst="rect">
            <a:avLst/>
          </a:prstGeom>
        </p:spPr>
        <p:txBody>
          <a:bodyPr vert="horz">
            <a:normAutofit fontScale="92500"/>
          </a:bodyPr>
          <a:lstStyle/>
          <a:p>
            <a:pPr marL="514350" marR="0" lvl="0" indent="-514350" algn="l" defTabSz="914400" rtl="0" eaLnBrk="1" fontAlgn="auto" latinLnBrk="0" hangingPunct="1">
              <a:lnSpc>
                <a:spcPct val="100000"/>
              </a:lnSpc>
              <a:spcBef>
                <a:spcPts val="580"/>
              </a:spcBef>
              <a:spcAft>
                <a:spcPts val="0"/>
              </a:spcAft>
              <a:buClr>
                <a:schemeClr val="accent1"/>
              </a:buClr>
              <a:buSzPct val="85000"/>
              <a:tabLst/>
              <a:defRPr/>
            </a:pPr>
            <a:r>
              <a:rPr kumimoji="0" lang="en-US" sz="2600" b="1" i="0" u="none" strike="noStrike" kern="1200" cap="none" spc="0" normalizeH="0" baseline="0" noProof="0" dirty="0">
                <a:ln>
                  <a:noFill/>
                </a:ln>
                <a:solidFill>
                  <a:schemeClr val="tx1"/>
                </a:solidFill>
                <a:effectLst/>
                <a:uLnTx/>
                <a:uFillTx/>
                <a:latin typeface="+mn-lt"/>
                <a:ea typeface="+mn-ea"/>
                <a:cs typeface="+mn-cs"/>
              </a:rPr>
              <a:t>Disadvantages of Inheritance</a:t>
            </a:r>
            <a:endParaRPr kumimoji="0" lang="en-IN" sz="2600" b="1"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ts val="580"/>
              </a:spcBef>
              <a:spcAft>
                <a:spcPts val="0"/>
              </a:spcAft>
              <a:buClr>
                <a:schemeClr val="accent1"/>
              </a:buClr>
              <a:buSzPct val="85000"/>
              <a:buFont typeface="+mj-lt"/>
              <a:buAutoNum type="arabicPeriod"/>
              <a:tabLst/>
              <a:defRPr/>
            </a:pPr>
            <a:r>
              <a:rPr kumimoji="0" lang="en-IN" sz="2600" b="0" i="0" u="none" strike="noStrike" kern="1200" cap="none" spc="0" normalizeH="0" baseline="0" noProof="0" dirty="0">
                <a:ln>
                  <a:noFill/>
                </a:ln>
                <a:solidFill>
                  <a:schemeClr val="tx1"/>
                </a:solidFill>
                <a:effectLst/>
                <a:uLnTx/>
                <a:uFillTx/>
                <a:latin typeface="+mn-lt"/>
                <a:ea typeface="+mn-ea"/>
                <a:cs typeface="+mn-cs"/>
              </a:rPr>
              <a:t>Inherited functions work </a:t>
            </a:r>
            <a:r>
              <a:rPr kumimoji="0" lang="en-IN" sz="2600" b="1" i="0" u="none" strike="noStrike" kern="1200" cap="none" spc="0" normalizeH="0" baseline="0" noProof="0" dirty="0">
                <a:ln>
                  <a:noFill/>
                </a:ln>
                <a:solidFill>
                  <a:schemeClr val="tx1"/>
                </a:solidFill>
                <a:effectLst/>
                <a:uLnTx/>
                <a:uFillTx/>
                <a:latin typeface="+mn-lt"/>
                <a:ea typeface="+mn-ea"/>
                <a:cs typeface="+mn-cs"/>
              </a:rPr>
              <a:t>slower</a:t>
            </a:r>
            <a:r>
              <a:rPr kumimoji="0" lang="en-IN" sz="2600" b="0" i="0" u="none" strike="noStrike" kern="1200" cap="none" spc="0" normalizeH="0" baseline="0" noProof="0" dirty="0">
                <a:ln>
                  <a:noFill/>
                </a:ln>
                <a:solidFill>
                  <a:schemeClr val="tx1"/>
                </a:solidFill>
                <a:effectLst/>
                <a:uLnTx/>
                <a:uFillTx/>
                <a:latin typeface="+mn-lt"/>
                <a:ea typeface="+mn-ea"/>
                <a:cs typeface="+mn-cs"/>
              </a:rPr>
              <a:t> than normal function as there is indirection.</a:t>
            </a:r>
          </a:p>
          <a:p>
            <a:pPr marL="514350" marR="0" lvl="0" indent="-514350" algn="l" defTabSz="914400" rtl="0" eaLnBrk="1" fontAlgn="auto" latinLnBrk="0" hangingPunct="1">
              <a:lnSpc>
                <a:spcPct val="100000"/>
              </a:lnSpc>
              <a:spcBef>
                <a:spcPts val="580"/>
              </a:spcBef>
              <a:spcAft>
                <a:spcPts val="0"/>
              </a:spcAft>
              <a:buClr>
                <a:schemeClr val="accent1"/>
              </a:buClr>
              <a:buSzPct val="85000"/>
              <a:buFont typeface="+mj-lt"/>
              <a:buAutoNum type="arabicPeriod"/>
              <a:tabLst/>
              <a:defRPr/>
            </a:pPr>
            <a:r>
              <a:rPr kumimoji="0" lang="en-IN" sz="2600" b="1" i="0" u="none" strike="noStrike" kern="1200" cap="none" spc="0" normalizeH="0" baseline="0" noProof="0" dirty="0">
                <a:ln>
                  <a:noFill/>
                </a:ln>
                <a:solidFill>
                  <a:schemeClr val="tx1"/>
                </a:solidFill>
                <a:effectLst/>
                <a:uLnTx/>
                <a:uFillTx/>
                <a:latin typeface="+mn-lt"/>
                <a:ea typeface="+mn-ea"/>
                <a:cs typeface="+mn-cs"/>
              </a:rPr>
              <a:t>Improper</a:t>
            </a:r>
            <a:r>
              <a:rPr kumimoji="0" lang="en-IN" sz="2600" b="0" i="0" u="none" strike="noStrike" kern="1200" cap="none" spc="0" normalizeH="0" baseline="0" noProof="0" dirty="0">
                <a:ln>
                  <a:noFill/>
                </a:ln>
                <a:solidFill>
                  <a:schemeClr val="tx1"/>
                </a:solidFill>
                <a:effectLst/>
                <a:uLnTx/>
                <a:uFillTx/>
                <a:latin typeface="+mn-lt"/>
                <a:ea typeface="+mn-ea"/>
                <a:cs typeface="+mn-cs"/>
              </a:rPr>
              <a:t> use of inheritance may lead to </a:t>
            </a:r>
            <a:r>
              <a:rPr kumimoji="0" lang="en-IN" sz="2600" b="1" i="0" u="none" strike="noStrike" kern="1200" cap="none" spc="0" normalizeH="0" baseline="0" noProof="0" dirty="0">
                <a:ln>
                  <a:noFill/>
                </a:ln>
                <a:solidFill>
                  <a:schemeClr val="tx1"/>
                </a:solidFill>
                <a:effectLst/>
                <a:uLnTx/>
                <a:uFillTx/>
                <a:latin typeface="+mn-lt"/>
                <a:ea typeface="+mn-ea"/>
                <a:cs typeface="+mn-cs"/>
              </a:rPr>
              <a:t>wrong solutions</a:t>
            </a:r>
            <a:r>
              <a:rPr kumimoji="0" lang="en-IN" sz="2600" b="0" i="0" u="none" strike="noStrike" kern="1200" cap="none" spc="0" normalizeH="0" baseline="0" noProof="0" dirty="0">
                <a:ln>
                  <a:noFill/>
                </a:ln>
                <a:solidFill>
                  <a:schemeClr val="tx1"/>
                </a:solidFill>
                <a:effectLst/>
                <a:uLnTx/>
                <a:uFillTx/>
                <a:latin typeface="+mn-lt"/>
                <a:ea typeface="+mn-ea"/>
                <a:cs typeface="+mn-cs"/>
              </a:rPr>
              <a:t>.</a:t>
            </a:r>
          </a:p>
          <a:p>
            <a:pPr marL="514350" marR="0" lvl="0" indent="-514350" algn="l" defTabSz="914400" rtl="0" eaLnBrk="1" fontAlgn="auto" latinLnBrk="0" hangingPunct="1">
              <a:lnSpc>
                <a:spcPct val="100000"/>
              </a:lnSpc>
              <a:spcBef>
                <a:spcPts val="580"/>
              </a:spcBef>
              <a:spcAft>
                <a:spcPts val="0"/>
              </a:spcAft>
              <a:buClr>
                <a:schemeClr val="accent1"/>
              </a:buClr>
              <a:buSzPct val="85000"/>
              <a:buFont typeface="+mj-lt"/>
              <a:buAutoNum type="arabicPeriod"/>
              <a:tabLst/>
              <a:defRPr/>
            </a:pPr>
            <a:r>
              <a:rPr kumimoji="0" lang="en-IN" sz="2600" b="0" i="0" u="none" strike="noStrike" kern="1200" cap="none" spc="0" normalizeH="0" baseline="0" noProof="0" dirty="0">
                <a:ln>
                  <a:noFill/>
                </a:ln>
                <a:solidFill>
                  <a:schemeClr val="tx1"/>
                </a:solidFill>
                <a:effectLst/>
                <a:uLnTx/>
                <a:uFillTx/>
                <a:latin typeface="+mn-lt"/>
                <a:ea typeface="+mn-ea"/>
                <a:cs typeface="+mn-cs"/>
              </a:rPr>
              <a:t>Often, data members in the base class are left </a:t>
            </a:r>
            <a:r>
              <a:rPr kumimoji="0" lang="en-IN" sz="2600" b="1" i="0" u="none" strike="noStrike" kern="1200" cap="none" spc="0" normalizeH="0" baseline="0" noProof="0" dirty="0">
                <a:ln>
                  <a:noFill/>
                </a:ln>
                <a:solidFill>
                  <a:schemeClr val="tx1"/>
                </a:solidFill>
                <a:effectLst/>
                <a:uLnTx/>
                <a:uFillTx/>
                <a:latin typeface="+mn-lt"/>
                <a:ea typeface="+mn-ea"/>
                <a:cs typeface="+mn-cs"/>
              </a:rPr>
              <a:t>unused</a:t>
            </a:r>
            <a:r>
              <a:rPr kumimoji="0" lang="en-IN" sz="2600" b="0" i="0" u="none" strike="noStrike" kern="1200" cap="none" spc="0" normalizeH="0" baseline="0" noProof="0" dirty="0">
                <a:ln>
                  <a:noFill/>
                </a:ln>
                <a:solidFill>
                  <a:schemeClr val="tx1"/>
                </a:solidFill>
                <a:effectLst/>
                <a:uLnTx/>
                <a:uFillTx/>
                <a:latin typeface="+mn-lt"/>
                <a:ea typeface="+mn-ea"/>
                <a:cs typeface="+mn-cs"/>
              </a:rPr>
              <a:t> which may lead to </a:t>
            </a:r>
            <a:r>
              <a:rPr kumimoji="0" lang="en-IN" sz="2600" b="1" i="0" u="none" strike="noStrike" kern="1200" cap="none" spc="0" normalizeH="0" baseline="0" noProof="0" dirty="0">
                <a:ln>
                  <a:noFill/>
                </a:ln>
                <a:solidFill>
                  <a:schemeClr val="tx1"/>
                </a:solidFill>
                <a:effectLst/>
                <a:uLnTx/>
                <a:uFillTx/>
                <a:latin typeface="+mn-lt"/>
                <a:ea typeface="+mn-ea"/>
                <a:cs typeface="+mn-cs"/>
              </a:rPr>
              <a:t>memory wastage</a:t>
            </a:r>
            <a:r>
              <a:rPr kumimoji="0" lang="en-IN" sz="2600" b="0" i="0" u="none" strike="noStrike" kern="1200" cap="none" spc="0" normalizeH="0" baseline="0" noProof="0" dirty="0">
                <a:ln>
                  <a:noFill/>
                </a:ln>
                <a:solidFill>
                  <a:schemeClr val="tx1"/>
                </a:solidFill>
                <a:effectLst/>
                <a:uLnTx/>
                <a:uFillTx/>
                <a:latin typeface="+mn-lt"/>
                <a:ea typeface="+mn-ea"/>
                <a:cs typeface="+mn-cs"/>
              </a:rPr>
              <a:t>.</a:t>
            </a:r>
          </a:p>
          <a:p>
            <a:pPr marL="514350" marR="0" lvl="0" indent="-514350" algn="l" defTabSz="914400" rtl="0" eaLnBrk="1" fontAlgn="auto" latinLnBrk="0" hangingPunct="1">
              <a:lnSpc>
                <a:spcPct val="100000"/>
              </a:lnSpc>
              <a:spcBef>
                <a:spcPts val="580"/>
              </a:spcBef>
              <a:spcAft>
                <a:spcPts val="0"/>
              </a:spcAft>
              <a:buClr>
                <a:schemeClr val="accent1"/>
              </a:buClr>
              <a:buSzPct val="85000"/>
              <a:buFont typeface="+mj-lt"/>
              <a:buAutoNum type="arabicPeriod"/>
              <a:tabLst/>
              <a:defRPr/>
            </a:pPr>
            <a:r>
              <a:rPr kumimoji="0" lang="en-IN" sz="2600" b="0" i="0" u="none" strike="noStrike" kern="1200" cap="none" spc="0" normalizeH="0" baseline="0" noProof="0" dirty="0">
                <a:ln>
                  <a:noFill/>
                </a:ln>
                <a:solidFill>
                  <a:schemeClr val="tx1"/>
                </a:solidFill>
                <a:effectLst/>
                <a:uLnTx/>
                <a:uFillTx/>
                <a:latin typeface="+mn-lt"/>
                <a:ea typeface="+mn-ea"/>
                <a:cs typeface="+mn-cs"/>
              </a:rPr>
              <a:t>Inheritance increases the </a:t>
            </a:r>
            <a:r>
              <a:rPr kumimoji="0" lang="en-IN" sz="2600" b="1" i="0" u="none" strike="noStrike" kern="1200" cap="none" spc="0" normalizeH="0" baseline="0" noProof="0" dirty="0">
                <a:ln>
                  <a:noFill/>
                </a:ln>
                <a:solidFill>
                  <a:schemeClr val="tx1"/>
                </a:solidFill>
                <a:effectLst/>
                <a:uLnTx/>
                <a:uFillTx/>
                <a:latin typeface="+mn-lt"/>
                <a:ea typeface="+mn-ea"/>
                <a:cs typeface="+mn-cs"/>
              </a:rPr>
              <a:t>coupling</a:t>
            </a:r>
            <a:r>
              <a:rPr kumimoji="0" lang="en-IN" sz="2600" b="0" i="0" u="none" strike="noStrike" kern="1200" cap="none" spc="0" normalizeH="0" baseline="0" noProof="0" dirty="0">
                <a:ln>
                  <a:noFill/>
                </a:ln>
                <a:solidFill>
                  <a:schemeClr val="tx1"/>
                </a:solidFill>
                <a:effectLst/>
                <a:uLnTx/>
                <a:uFillTx/>
                <a:latin typeface="+mn-lt"/>
                <a:ea typeface="+mn-ea"/>
                <a:cs typeface="+mn-cs"/>
              </a:rPr>
              <a:t> between base class and derived class. A change in base class will </a:t>
            </a:r>
            <a:r>
              <a:rPr kumimoji="0" lang="en-IN" sz="2600" b="1" i="0" u="none" strike="noStrike" kern="1200" cap="none" spc="0" normalizeH="0" baseline="0" noProof="0" dirty="0">
                <a:ln>
                  <a:noFill/>
                </a:ln>
                <a:solidFill>
                  <a:schemeClr val="tx1"/>
                </a:solidFill>
                <a:effectLst/>
                <a:uLnTx/>
                <a:uFillTx/>
                <a:latin typeface="+mn-lt"/>
                <a:ea typeface="+mn-ea"/>
                <a:cs typeface="+mn-cs"/>
              </a:rPr>
              <a:t>affect</a:t>
            </a:r>
            <a:r>
              <a:rPr kumimoji="0" lang="en-IN" sz="2600" b="0" i="0" u="none" strike="noStrike" kern="1200" cap="none" spc="0" normalizeH="0" baseline="0" noProof="0" dirty="0">
                <a:ln>
                  <a:noFill/>
                </a:ln>
                <a:solidFill>
                  <a:schemeClr val="tx1"/>
                </a:solidFill>
                <a:effectLst/>
                <a:uLnTx/>
                <a:uFillTx/>
                <a:latin typeface="+mn-lt"/>
                <a:ea typeface="+mn-ea"/>
                <a:cs typeface="+mn-cs"/>
              </a:rPr>
              <a:t> all the child classes.</a:t>
            </a:r>
          </a:p>
        </p:txBody>
      </p:sp>
      <p:sp>
        <p:nvSpPr>
          <p:cNvPr id="4" name="Footer Placeholder 3">
            <a:extLst>
              <a:ext uri="{FF2B5EF4-FFF2-40B4-BE49-F238E27FC236}">
                <a16:creationId xmlns:a16="http://schemas.microsoft.com/office/drawing/2014/main" id="{DC174DBE-BA71-4990-A00A-F0FBDA7DE078}"/>
              </a:ext>
            </a:extLst>
          </p:cNvPr>
          <p:cNvSpPr>
            <a:spLocks noGrp="1"/>
          </p:cNvSpPr>
          <p:nvPr>
            <p:ph type="ftr" sz="quarter" idx="11"/>
          </p:nvPr>
        </p:nvSpPr>
        <p:spPr/>
        <p:txBody>
          <a:bodyPr/>
          <a:lstStyle/>
          <a:p>
            <a:r>
              <a:rPr lang="en-US"/>
              <a:t>Prepared by Deepali Sonawane, MIT-WPU, Pune</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0331" y="248512"/>
            <a:ext cx="4371703" cy="626699"/>
          </a:xfrm>
        </p:spPr>
        <p:txBody>
          <a:bodyPr>
            <a:normAutofit fontScale="90000"/>
          </a:bodyPr>
          <a:lstStyle/>
          <a:p>
            <a:r>
              <a:rPr lang="en-US" b="1" dirty="0"/>
              <a:t>Types of Inheritance</a:t>
            </a:r>
            <a:endParaRPr lang="en-IN" b="1" dirty="0"/>
          </a:p>
        </p:txBody>
      </p:sp>
      <p:sp>
        <p:nvSpPr>
          <p:cNvPr id="3" name="Content Placeholder 2"/>
          <p:cNvSpPr>
            <a:spLocks noGrp="1"/>
          </p:cNvSpPr>
          <p:nvPr>
            <p:ph sz="quarter" idx="1"/>
          </p:nvPr>
        </p:nvSpPr>
        <p:spPr>
          <a:xfrm>
            <a:off x="187233" y="899159"/>
            <a:ext cx="2373087" cy="3503024"/>
          </a:xfrm>
        </p:spPr>
        <p:txBody>
          <a:bodyPr>
            <a:normAutofit/>
          </a:bodyPr>
          <a:lstStyle/>
          <a:p>
            <a:pPr marL="514350" indent="-514350">
              <a:buFont typeface="+mj-lt"/>
              <a:buAutoNum type="arabicPeriod"/>
            </a:pPr>
            <a:r>
              <a:rPr lang="en-IN" dirty="0"/>
              <a:t>Single Inheritance</a:t>
            </a:r>
          </a:p>
        </p:txBody>
      </p:sp>
      <p:sp>
        <p:nvSpPr>
          <p:cNvPr id="1026" name="AutoShape 2" descr="https://qphs.fs.quoracdn.net/main-qimg-810f3ca9ea4352a5e19fe351a2966e78"/>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1028" name="AutoShape 4" descr="https://qphs.fs.quoracdn.net/main-qimg-810f3ca9ea4352a5e19fe351a2966e78"/>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grpSp>
        <p:nvGrpSpPr>
          <p:cNvPr id="42" name="Group 41"/>
          <p:cNvGrpSpPr/>
          <p:nvPr/>
        </p:nvGrpSpPr>
        <p:grpSpPr>
          <a:xfrm>
            <a:off x="862149" y="1985555"/>
            <a:ext cx="936172" cy="1824446"/>
            <a:chOff x="862149" y="1985555"/>
            <a:chExt cx="936172" cy="1824446"/>
          </a:xfrm>
        </p:grpSpPr>
        <p:sp>
          <p:nvSpPr>
            <p:cNvPr id="8" name="Rectangle 7"/>
            <p:cNvSpPr/>
            <p:nvPr/>
          </p:nvSpPr>
          <p:spPr>
            <a:xfrm>
              <a:off x="862149" y="1985555"/>
              <a:ext cx="914400" cy="5747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A</a:t>
              </a:r>
              <a:endParaRPr lang="en-IN" sz="3200" dirty="0">
                <a:solidFill>
                  <a:schemeClr val="tx1"/>
                </a:solidFill>
              </a:endParaRPr>
            </a:p>
          </p:txBody>
        </p:sp>
        <p:sp>
          <p:nvSpPr>
            <p:cNvPr id="9" name="Rectangle 8"/>
            <p:cNvSpPr/>
            <p:nvPr/>
          </p:nvSpPr>
          <p:spPr>
            <a:xfrm>
              <a:off x="883921" y="3235235"/>
              <a:ext cx="914400" cy="5747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B</a:t>
              </a:r>
              <a:endParaRPr lang="en-IN" sz="3200" dirty="0">
                <a:solidFill>
                  <a:schemeClr val="tx1"/>
                </a:solidFill>
              </a:endParaRPr>
            </a:p>
          </p:txBody>
        </p:sp>
        <p:cxnSp>
          <p:nvCxnSpPr>
            <p:cNvPr id="10" name="Straight Arrow Connector 9"/>
            <p:cNvCxnSpPr/>
            <p:nvPr/>
          </p:nvCxnSpPr>
          <p:spPr>
            <a:xfrm>
              <a:off x="1280161" y="2534195"/>
              <a:ext cx="21772" cy="67491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11" name="Content Placeholder 2"/>
          <p:cNvSpPr txBox="1">
            <a:spLocks/>
          </p:cNvSpPr>
          <p:nvPr/>
        </p:nvSpPr>
        <p:spPr>
          <a:xfrm>
            <a:off x="2233748" y="894804"/>
            <a:ext cx="3461658" cy="3611882"/>
          </a:xfrm>
          <a:prstGeom prst="rect">
            <a:avLst/>
          </a:prstGeom>
        </p:spPr>
        <p:txBody>
          <a:bodyPr vert="horz">
            <a:normAutofit/>
          </a:bodyPr>
          <a:lstStyle/>
          <a:p>
            <a:pPr marL="514350" marR="0" lvl="0" indent="-514350" algn="l" defTabSz="914400" rtl="0" eaLnBrk="1" fontAlgn="auto" latinLnBrk="0" hangingPunct="1">
              <a:lnSpc>
                <a:spcPct val="100000"/>
              </a:lnSpc>
              <a:spcBef>
                <a:spcPts val="580"/>
              </a:spcBef>
              <a:spcAft>
                <a:spcPts val="0"/>
              </a:spcAft>
              <a:buClr>
                <a:schemeClr val="accent1"/>
              </a:buClr>
              <a:buSzPct val="85000"/>
              <a:buFont typeface="+mj-lt"/>
              <a:buAutoNum type="arabicPeriod" startAt="2"/>
              <a:tabLst/>
              <a:defRPr/>
            </a:pPr>
            <a:r>
              <a:rPr kumimoji="0" lang="en-IN" sz="2600" b="0" i="0" u="none" strike="noStrike" kern="1200" cap="none" spc="0" normalizeH="0" baseline="0" noProof="0" dirty="0">
                <a:ln>
                  <a:noFill/>
                </a:ln>
                <a:solidFill>
                  <a:schemeClr val="tx1"/>
                </a:solidFill>
                <a:effectLst/>
                <a:uLnTx/>
                <a:uFillTx/>
                <a:latin typeface="+mn-lt"/>
                <a:ea typeface="+mn-ea"/>
                <a:cs typeface="+mn-cs"/>
              </a:rPr>
              <a:t>Multilevel Inheritance</a:t>
            </a:r>
          </a:p>
        </p:txBody>
      </p:sp>
      <p:grpSp>
        <p:nvGrpSpPr>
          <p:cNvPr id="51" name="Group 50"/>
          <p:cNvGrpSpPr/>
          <p:nvPr/>
        </p:nvGrpSpPr>
        <p:grpSpPr>
          <a:xfrm>
            <a:off x="3326674" y="1484812"/>
            <a:ext cx="944881" cy="3048001"/>
            <a:chOff x="3326674" y="1484812"/>
            <a:chExt cx="944881" cy="3048001"/>
          </a:xfrm>
        </p:grpSpPr>
        <p:sp>
          <p:nvSpPr>
            <p:cNvPr id="13" name="Rectangle 12"/>
            <p:cNvSpPr/>
            <p:nvPr/>
          </p:nvSpPr>
          <p:spPr>
            <a:xfrm>
              <a:off x="3326674" y="1484812"/>
              <a:ext cx="914400" cy="5747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A</a:t>
              </a:r>
              <a:endParaRPr lang="en-IN" sz="3200" dirty="0">
                <a:solidFill>
                  <a:schemeClr val="tx1"/>
                </a:solidFill>
              </a:endParaRPr>
            </a:p>
          </p:txBody>
        </p:sp>
        <p:sp>
          <p:nvSpPr>
            <p:cNvPr id="14" name="Rectangle 13"/>
            <p:cNvSpPr/>
            <p:nvPr/>
          </p:nvSpPr>
          <p:spPr>
            <a:xfrm>
              <a:off x="3348446" y="2734492"/>
              <a:ext cx="914400" cy="5747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B</a:t>
              </a:r>
              <a:endParaRPr lang="en-IN" sz="3200" dirty="0">
                <a:solidFill>
                  <a:schemeClr val="tx1"/>
                </a:solidFill>
              </a:endParaRPr>
            </a:p>
          </p:txBody>
        </p:sp>
        <p:cxnSp>
          <p:nvCxnSpPr>
            <p:cNvPr id="15" name="Straight Arrow Connector 14"/>
            <p:cNvCxnSpPr>
              <a:stCxn id="13" idx="2"/>
              <a:endCxn id="14" idx="0"/>
            </p:cNvCxnSpPr>
            <p:nvPr/>
          </p:nvCxnSpPr>
          <p:spPr>
            <a:xfrm>
              <a:off x="3783874" y="2059578"/>
              <a:ext cx="21772" cy="67491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3357155" y="3958047"/>
              <a:ext cx="914400" cy="5747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C</a:t>
              </a:r>
              <a:endParaRPr lang="en-IN" sz="3200" dirty="0">
                <a:solidFill>
                  <a:schemeClr val="tx1"/>
                </a:solidFill>
              </a:endParaRPr>
            </a:p>
          </p:txBody>
        </p:sp>
        <p:cxnSp>
          <p:nvCxnSpPr>
            <p:cNvPr id="17" name="Straight Arrow Connector 16"/>
            <p:cNvCxnSpPr>
              <a:stCxn id="14" idx="2"/>
              <a:endCxn id="16" idx="0"/>
            </p:cNvCxnSpPr>
            <p:nvPr/>
          </p:nvCxnSpPr>
          <p:spPr>
            <a:xfrm>
              <a:off x="3805646" y="3309258"/>
              <a:ext cx="8709" cy="64878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19" name="Content Placeholder 2"/>
          <p:cNvSpPr txBox="1">
            <a:spLocks/>
          </p:cNvSpPr>
          <p:nvPr/>
        </p:nvSpPr>
        <p:spPr>
          <a:xfrm>
            <a:off x="5599612" y="877384"/>
            <a:ext cx="2917371" cy="4334695"/>
          </a:xfrm>
          <a:prstGeom prst="rect">
            <a:avLst/>
          </a:prstGeom>
        </p:spPr>
        <p:txBody>
          <a:bodyPr vert="horz">
            <a:normAutofit/>
          </a:bodyPr>
          <a:lstStyle/>
          <a:p>
            <a:pPr marL="514350" marR="0" lvl="0" indent="-514350" algn="l" defTabSz="914400" rtl="0" eaLnBrk="1" fontAlgn="auto" latinLnBrk="0" hangingPunct="1">
              <a:lnSpc>
                <a:spcPct val="100000"/>
              </a:lnSpc>
              <a:spcBef>
                <a:spcPts val="580"/>
              </a:spcBef>
              <a:spcAft>
                <a:spcPts val="0"/>
              </a:spcAft>
              <a:buClr>
                <a:schemeClr val="accent1"/>
              </a:buClr>
              <a:buSzPct val="85000"/>
              <a:buFont typeface="+mj-lt"/>
              <a:buAutoNum type="arabicPeriod" startAt="3"/>
              <a:tabLst/>
              <a:defRPr/>
            </a:pPr>
            <a:r>
              <a:rPr kumimoji="0" lang="en-IN" sz="2600" b="0" i="0" u="none" strike="noStrike" kern="1200" cap="none" spc="0" normalizeH="0" baseline="0" noProof="0" dirty="0">
                <a:ln>
                  <a:noFill/>
                </a:ln>
                <a:solidFill>
                  <a:schemeClr val="tx1"/>
                </a:solidFill>
                <a:effectLst/>
                <a:uLnTx/>
                <a:uFillTx/>
                <a:latin typeface="+mn-lt"/>
                <a:ea typeface="+mn-ea"/>
                <a:cs typeface="+mn-cs"/>
              </a:rPr>
              <a:t>Hierarchical Inheritance</a:t>
            </a:r>
          </a:p>
        </p:txBody>
      </p:sp>
      <p:grpSp>
        <p:nvGrpSpPr>
          <p:cNvPr id="63" name="Group 62"/>
          <p:cNvGrpSpPr/>
          <p:nvPr/>
        </p:nvGrpSpPr>
        <p:grpSpPr>
          <a:xfrm>
            <a:off x="5826034" y="1859280"/>
            <a:ext cx="2608217" cy="1767841"/>
            <a:chOff x="5826034" y="1859280"/>
            <a:chExt cx="2608217" cy="1767841"/>
          </a:xfrm>
        </p:grpSpPr>
        <p:sp>
          <p:nvSpPr>
            <p:cNvPr id="21" name="Rectangle 20"/>
            <p:cNvSpPr/>
            <p:nvPr/>
          </p:nvSpPr>
          <p:spPr>
            <a:xfrm>
              <a:off x="6718662" y="1859280"/>
              <a:ext cx="914400" cy="5747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A</a:t>
              </a:r>
              <a:endParaRPr lang="en-IN" sz="3200" dirty="0">
                <a:solidFill>
                  <a:schemeClr val="tx1"/>
                </a:solidFill>
              </a:endParaRPr>
            </a:p>
          </p:txBody>
        </p:sp>
        <p:sp>
          <p:nvSpPr>
            <p:cNvPr id="22" name="Rectangle 21"/>
            <p:cNvSpPr/>
            <p:nvPr/>
          </p:nvSpPr>
          <p:spPr>
            <a:xfrm>
              <a:off x="5826034" y="3017520"/>
              <a:ext cx="914400" cy="5747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B</a:t>
              </a:r>
              <a:endParaRPr lang="en-IN" sz="3200" dirty="0">
                <a:solidFill>
                  <a:schemeClr val="tx1"/>
                </a:solidFill>
              </a:endParaRPr>
            </a:p>
          </p:txBody>
        </p:sp>
        <p:sp>
          <p:nvSpPr>
            <p:cNvPr id="24" name="Rectangle 23"/>
            <p:cNvSpPr/>
            <p:nvPr/>
          </p:nvSpPr>
          <p:spPr>
            <a:xfrm>
              <a:off x="7519851" y="3052355"/>
              <a:ext cx="914400" cy="5747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C</a:t>
              </a:r>
              <a:endParaRPr lang="en-IN" sz="3200" dirty="0">
                <a:solidFill>
                  <a:schemeClr val="tx1"/>
                </a:solidFill>
              </a:endParaRPr>
            </a:p>
          </p:txBody>
        </p:sp>
        <p:cxnSp>
          <p:nvCxnSpPr>
            <p:cNvPr id="29" name="Straight Arrow Connector 28"/>
            <p:cNvCxnSpPr>
              <a:endCxn id="22" idx="0"/>
            </p:cNvCxnSpPr>
            <p:nvPr/>
          </p:nvCxnSpPr>
          <p:spPr>
            <a:xfrm flipH="1">
              <a:off x="6283234" y="2416629"/>
              <a:ext cx="692332" cy="60089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endCxn id="24" idx="0"/>
            </p:cNvCxnSpPr>
            <p:nvPr/>
          </p:nvCxnSpPr>
          <p:spPr>
            <a:xfrm>
              <a:off x="7406640" y="2416629"/>
              <a:ext cx="570411" cy="63572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33" name="Content Placeholder 2"/>
          <p:cNvSpPr txBox="1">
            <a:spLocks/>
          </p:cNvSpPr>
          <p:nvPr/>
        </p:nvSpPr>
        <p:spPr>
          <a:xfrm>
            <a:off x="8739052" y="938343"/>
            <a:ext cx="3030582" cy="4334695"/>
          </a:xfrm>
          <a:prstGeom prst="rect">
            <a:avLst/>
          </a:prstGeom>
        </p:spPr>
        <p:txBody>
          <a:bodyPr vert="horz">
            <a:normAutofit/>
          </a:bodyPr>
          <a:lstStyle/>
          <a:p>
            <a:pPr marL="514350" marR="0" lvl="0" indent="-514350" algn="l" defTabSz="914400" rtl="0" eaLnBrk="1" fontAlgn="auto" latinLnBrk="0" hangingPunct="1">
              <a:lnSpc>
                <a:spcPct val="100000"/>
              </a:lnSpc>
              <a:spcBef>
                <a:spcPts val="580"/>
              </a:spcBef>
              <a:spcAft>
                <a:spcPts val="0"/>
              </a:spcAft>
              <a:buClr>
                <a:schemeClr val="accent1"/>
              </a:buClr>
              <a:buSzPct val="85000"/>
              <a:buFont typeface="+mj-lt"/>
              <a:buAutoNum type="arabicPeriod" startAt="4"/>
              <a:tabLst/>
              <a:defRPr/>
            </a:pPr>
            <a:r>
              <a:rPr kumimoji="0" lang="en-IN" sz="2600" b="0" i="0" u="none" strike="noStrike" kern="1200" cap="none" spc="0" normalizeH="0" baseline="0" noProof="0" dirty="0">
                <a:ln>
                  <a:noFill/>
                </a:ln>
                <a:solidFill>
                  <a:schemeClr val="tx1"/>
                </a:solidFill>
                <a:effectLst/>
                <a:uLnTx/>
                <a:uFillTx/>
                <a:latin typeface="+mn-lt"/>
                <a:ea typeface="+mn-ea"/>
                <a:cs typeface="+mn-cs"/>
              </a:rPr>
              <a:t>Hybrid Inheritance</a:t>
            </a:r>
          </a:p>
        </p:txBody>
      </p:sp>
      <p:grpSp>
        <p:nvGrpSpPr>
          <p:cNvPr id="74" name="Group 73"/>
          <p:cNvGrpSpPr/>
          <p:nvPr/>
        </p:nvGrpSpPr>
        <p:grpSpPr>
          <a:xfrm>
            <a:off x="9370422" y="2055224"/>
            <a:ext cx="2194561" cy="3048001"/>
            <a:chOff x="9370422" y="2055224"/>
            <a:chExt cx="2194561" cy="3048001"/>
          </a:xfrm>
        </p:grpSpPr>
        <p:sp>
          <p:nvSpPr>
            <p:cNvPr id="35" name="Rectangle 34"/>
            <p:cNvSpPr/>
            <p:nvPr/>
          </p:nvSpPr>
          <p:spPr>
            <a:xfrm>
              <a:off x="9370422" y="2055224"/>
              <a:ext cx="914400" cy="5747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A</a:t>
              </a:r>
              <a:endParaRPr lang="en-IN" sz="3200" dirty="0">
                <a:solidFill>
                  <a:schemeClr val="tx1"/>
                </a:solidFill>
              </a:endParaRPr>
            </a:p>
          </p:txBody>
        </p:sp>
        <p:sp>
          <p:nvSpPr>
            <p:cNvPr id="36" name="Rectangle 35"/>
            <p:cNvSpPr/>
            <p:nvPr/>
          </p:nvSpPr>
          <p:spPr>
            <a:xfrm>
              <a:off x="9392194" y="3304904"/>
              <a:ext cx="914400" cy="5747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B</a:t>
              </a:r>
              <a:endParaRPr lang="en-IN" sz="3200" dirty="0">
                <a:solidFill>
                  <a:schemeClr val="tx1"/>
                </a:solidFill>
              </a:endParaRPr>
            </a:p>
          </p:txBody>
        </p:sp>
        <p:cxnSp>
          <p:nvCxnSpPr>
            <p:cNvPr id="37" name="Straight Arrow Connector 36"/>
            <p:cNvCxnSpPr>
              <a:stCxn id="35" idx="2"/>
              <a:endCxn id="36" idx="0"/>
            </p:cNvCxnSpPr>
            <p:nvPr/>
          </p:nvCxnSpPr>
          <p:spPr>
            <a:xfrm>
              <a:off x="9827622" y="2629990"/>
              <a:ext cx="21772" cy="67491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8" name="Rectangle 37"/>
            <p:cNvSpPr/>
            <p:nvPr/>
          </p:nvSpPr>
          <p:spPr>
            <a:xfrm>
              <a:off x="9400903" y="4528459"/>
              <a:ext cx="914400" cy="5747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C</a:t>
              </a:r>
              <a:endParaRPr lang="en-IN" sz="3200" dirty="0">
                <a:solidFill>
                  <a:schemeClr val="tx1"/>
                </a:solidFill>
              </a:endParaRPr>
            </a:p>
          </p:txBody>
        </p:sp>
        <p:cxnSp>
          <p:nvCxnSpPr>
            <p:cNvPr id="39" name="Straight Arrow Connector 38"/>
            <p:cNvCxnSpPr>
              <a:stCxn id="36" idx="2"/>
              <a:endCxn id="38" idx="0"/>
            </p:cNvCxnSpPr>
            <p:nvPr/>
          </p:nvCxnSpPr>
          <p:spPr>
            <a:xfrm>
              <a:off x="9849394" y="3879670"/>
              <a:ext cx="8709" cy="64878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7" name="Rectangle 46"/>
            <p:cNvSpPr/>
            <p:nvPr/>
          </p:nvSpPr>
          <p:spPr>
            <a:xfrm>
              <a:off x="10650583" y="4497979"/>
              <a:ext cx="914400" cy="5747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D</a:t>
              </a:r>
              <a:endParaRPr lang="en-IN" sz="3200" dirty="0">
                <a:solidFill>
                  <a:schemeClr val="tx1"/>
                </a:solidFill>
              </a:endParaRPr>
            </a:p>
          </p:txBody>
        </p:sp>
        <p:cxnSp>
          <p:nvCxnSpPr>
            <p:cNvPr id="48" name="Straight Arrow Connector 47"/>
            <p:cNvCxnSpPr>
              <a:endCxn id="47" idx="0"/>
            </p:cNvCxnSpPr>
            <p:nvPr/>
          </p:nvCxnSpPr>
          <p:spPr>
            <a:xfrm>
              <a:off x="10202091" y="3866606"/>
              <a:ext cx="905692" cy="63137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4" name="Footer Placeholder 3">
            <a:extLst>
              <a:ext uri="{FF2B5EF4-FFF2-40B4-BE49-F238E27FC236}">
                <a16:creationId xmlns:a16="http://schemas.microsoft.com/office/drawing/2014/main" id="{E94E706D-B5FB-4637-9A0F-CEF3C7E32275}"/>
              </a:ext>
            </a:extLst>
          </p:cNvPr>
          <p:cNvSpPr>
            <a:spLocks noGrp="1"/>
          </p:cNvSpPr>
          <p:nvPr>
            <p:ph type="ftr" sz="quarter" idx="11"/>
          </p:nvPr>
        </p:nvSpPr>
        <p:spPr/>
        <p:txBody>
          <a:bodyPr/>
          <a:lstStyle/>
          <a:p>
            <a:r>
              <a:rPr lang="en-US" dirty="0"/>
              <a:t>Prepared by Deepali Sonawane, MIT-WPU, Pune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74638"/>
            <a:ext cx="10363200" cy="626699"/>
          </a:xfrm>
        </p:spPr>
        <p:txBody>
          <a:bodyPr>
            <a:normAutofit fontScale="90000"/>
          </a:bodyPr>
          <a:lstStyle/>
          <a:p>
            <a:r>
              <a:rPr lang="en-US" b="1" dirty="0"/>
              <a:t>Function Overriding</a:t>
            </a:r>
            <a:endParaRPr lang="en-IN" b="1" dirty="0"/>
          </a:p>
        </p:txBody>
      </p:sp>
      <p:sp>
        <p:nvSpPr>
          <p:cNvPr id="3" name="Content Placeholder 2"/>
          <p:cNvSpPr>
            <a:spLocks noGrp="1"/>
          </p:cNvSpPr>
          <p:nvPr>
            <p:ph sz="quarter" idx="1"/>
          </p:nvPr>
        </p:nvSpPr>
        <p:spPr>
          <a:xfrm>
            <a:off x="1140823" y="912221"/>
            <a:ext cx="10363200" cy="5488579"/>
          </a:xfrm>
        </p:spPr>
        <p:txBody>
          <a:bodyPr>
            <a:normAutofit/>
          </a:bodyPr>
          <a:lstStyle/>
          <a:p>
            <a:r>
              <a:rPr lang="en-IN" b="1" dirty="0"/>
              <a:t>Function overriding </a:t>
            </a:r>
            <a:r>
              <a:rPr lang="en-IN" dirty="0"/>
              <a:t>is a feature that allows us to have a </a:t>
            </a:r>
            <a:r>
              <a:rPr lang="en-IN" b="1" dirty="0"/>
              <a:t>same function </a:t>
            </a:r>
            <a:r>
              <a:rPr lang="en-IN" dirty="0"/>
              <a:t>in </a:t>
            </a:r>
            <a:r>
              <a:rPr lang="en-IN" b="1" dirty="0"/>
              <a:t>child class </a:t>
            </a:r>
            <a:r>
              <a:rPr lang="en-IN" dirty="0"/>
              <a:t>which is already present in the parent class. </a:t>
            </a:r>
          </a:p>
          <a:p>
            <a:r>
              <a:rPr lang="en-IN" dirty="0"/>
              <a:t>A child class </a:t>
            </a:r>
            <a:r>
              <a:rPr lang="en-IN" b="1" dirty="0"/>
              <a:t>inherits</a:t>
            </a:r>
            <a:r>
              <a:rPr lang="en-IN" dirty="0"/>
              <a:t> the data members and member functions of parent class, but when you want to override a functionality in the child class then you can use </a:t>
            </a:r>
            <a:r>
              <a:rPr lang="en-IN" b="1" dirty="0"/>
              <a:t>function overriding</a:t>
            </a:r>
            <a:r>
              <a:rPr lang="en-IN" dirty="0"/>
              <a:t>. </a:t>
            </a:r>
          </a:p>
          <a:p>
            <a:r>
              <a:rPr lang="en-IN" dirty="0"/>
              <a:t>It is like creating a </a:t>
            </a:r>
            <a:r>
              <a:rPr lang="en-IN" b="1" dirty="0"/>
              <a:t>new version </a:t>
            </a:r>
            <a:r>
              <a:rPr lang="en-IN" dirty="0"/>
              <a:t>of an old function, in the child class.</a:t>
            </a:r>
          </a:p>
          <a:p>
            <a:r>
              <a:rPr lang="en-IN" dirty="0"/>
              <a:t>To override a function you must have the </a:t>
            </a:r>
            <a:r>
              <a:rPr lang="en-IN" b="1" dirty="0"/>
              <a:t>same signature </a:t>
            </a:r>
            <a:r>
              <a:rPr lang="en-IN" dirty="0"/>
              <a:t>in child class.  Same signature means same </a:t>
            </a:r>
            <a:r>
              <a:rPr lang="en-IN" b="1" dirty="0"/>
              <a:t>data type and sequence of parameters</a:t>
            </a:r>
            <a:r>
              <a:rPr lang="en-IN" dirty="0"/>
              <a:t>.</a:t>
            </a:r>
          </a:p>
        </p:txBody>
      </p:sp>
      <p:sp>
        <p:nvSpPr>
          <p:cNvPr id="4" name="Footer Placeholder 3">
            <a:extLst>
              <a:ext uri="{FF2B5EF4-FFF2-40B4-BE49-F238E27FC236}">
                <a16:creationId xmlns:a16="http://schemas.microsoft.com/office/drawing/2014/main" id="{57D85F6E-14A2-4CED-8BFB-3448727D9A47}"/>
              </a:ext>
            </a:extLst>
          </p:cNvPr>
          <p:cNvSpPr>
            <a:spLocks noGrp="1"/>
          </p:cNvSpPr>
          <p:nvPr>
            <p:ph type="ftr" sz="quarter" idx="11"/>
          </p:nvPr>
        </p:nvSpPr>
        <p:spPr/>
        <p:txBody>
          <a:bodyPr/>
          <a:lstStyle/>
          <a:p>
            <a:r>
              <a:rPr lang="en-US"/>
              <a:t>Prepared by Deepali Sonawane, MIT-WPU, Pune</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74638"/>
            <a:ext cx="10363200" cy="626699"/>
          </a:xfrm>
        </p:spPr>
        <p:txBody>
          <a:bodyPr>
            <a:normAutofit fontScale="90000"/>
          </a:bodyPr>
          <a:lstStyle/>
          <a:p>
            <a:r>
              <a:rPr lang="en-US" b="1" dirty="0"/>
              <a:t>Parent:: &amp; self:: keyword</a:t>
            </a:r>
            <a:endParaRPr lang="en-IN" b="1" dirty="0"/>
          </a:p>
        </p:txBody>
      </p:sp>
      <p:sp>
        <p:nvSpPr>
          <p:cNvPr id="3" name="Content Placeholder 2"/>
          <p:cNvSpPr>
            <a:spLocks noGrp="1"/>
          </p:cNvSpPr>
          <p:nvPr>
            <p:ph sz="quarter" idx="1"/>
          </p:nvPr>
        </p:nvSpPr>
        <p:spPr>
          <a:xfrm>
            <a:off x="1140823" y="912221"/>
            <a:ext cx="10363200" cy="5710648"/>
          </a:xfrm>
        </p:spPr>
        <p:txBody>
          <a:bodyPr>
            <a:normAutofit lnSpcReduction="10000"/>
          </a:bodyPr>
          <a:lstStyle/>
          <a:p>
            <a:r>
              <a:rPr lang="en-IN" b="1" dirty="0"/>
              <a:t>parent:: </a:t>
            </a:r>
            <a:r>
              <a:rPr lang="en-IN" dirty="0"/>
              <a:t>keyword used for the parent class and it is mostly used when you want to call the </a:t>
            </a:r>
            <a:r>
              <a:rPr lang="en-IN" b="1" dirty="0"/>
              <a:t>parent  properties or methods</a:t>
            </a:r>
            <a:r>
              <a:rPr lang="en-IN" dirty="0"/>
              <a:t>. It also is used to access members and methods.</a:t>
            </a:r>
          </a:p>
          <a:p>
            <a:r>
              <a:rPr lang="en-IN" b="1" dirty="0"/>
              <a:t>self :: </a:t>
            </a:r>
            <a:r>
              <a:rPr lang="en-IN" dirty="0"/>
              <a:t>keyword used for the current class and basically it is used to access static members, methods.</a:t>
            </a:r>
          </a:p>
          <a:p>
            <a:r>
              <a:rPr lang="en-IN" b="1" dirty="0"/>
              <a:t>Difference between $this, self::, parent::</a:t>
            </a:r>
          </a:p>
          <a:p>
            <a:r>
              <a:rPr lang="en-US" b="1" dirty="0"/>
              <a:t>$this : </a:t>
            </a:r>
            <a:r>
              <a:rPr lang="en-IN" dirty="0"/>
              <a:t>$this refers to the object. $this point to the </a:t>
            </a:r>
            <a:r>
              <a:rPr lang="en-IN" b="1" dirty="0"/>
              <a:t>current object </a:t>
            </a:r>
            <a:r>
              <a:rPr lang="en-IN" dirty="0"/>
              <a:t>instance does not point to any other object or class.</a:t>
            </a:r>
          </a:p>
          <a:p>
            <a:r>
              <a:rPr lang="en-US" b="1" dirty="0"/>
              <a:t>self : </a:t>
            </a:r>
            <a:r>
              <a:rPr lang="en-IN" dirty="0"/>
              <a:t>self:: refer to the class itself, not point to any object. Using </a:t>
            </a:r>
            <a:r>
              <a:rPr lang="en-IN" b="1" dirty="0"/>
              <a:t>self:: </a:t>
            </a:r>
            <a:r>
              <a:rPr lang="en-IN" dirty="0"/>
              <a:t>you can access the </a:t>
            </a:r>
            <a:r>
              <a:rPr lang="en-IN" b="1" dirty="0"/>
              <a:t>static properties and static methods </a:t>
            </a:r>
            <a:r>
              <a:rPr lang="en-IN" dirty="0"/>
              <a:t>of the current class.</a:t>
            </a:r>
          </a:p>
          <a:p>
            <a:r>
              <a:rPr lang="en-US" b="1" dirty="0"/>
              <a:t>parent: </a:t>
            </a:r>
            <a:r>
              <a:rPr lang="en-IN" dirty="0"/>
              <a:t>parent:: is refer to the parent class. Using </a:t>
            </a:r>
            <a:r>
              <a:rPr lang="en-IN" b="1" dirty="0"/>
              <a:t>parent::, </a:t>
            </a:r>
            <a:r>
              <a:rPr lang="en-IN" dirty="0"/>
              <a:t>you can access the </a:t>
            </a:r>
            <a:r>
              <a:rPr lang="en-IN" b="1" dirty="0"/>
              <a:t>static properties and static methods </a:t>
            </a:r>
            <a:r>
              <a:rPr lang="en-IN" dirty="0"/>
              <a:t>of the parent class. </a:t>
            </a:r>
          </a:p>
          <a:p>
            <a:r>
              <a:rPr lang="en-IN" dirty="0"/>
              <a:t>With the use of self and parent, you allow to avoid explicitly reference the class by name.</a:t>
            </a:r>
            <a:endParaRPr lang="en-IN" b="1" dirty="0"/>
          </a:p>
        </p:txBody>
      </p:sp>
      <p:sp>
        <p:nvSpPr>
          <p:cNvPr id="4" name="Footer Placeholder 3">
            <a:extLst>
              <a:ext uri="{FF2B5EF4-FFF2-40B4-BE49-F238E27FC236}">
                <a16:creationId xmlns:a16="http://schemas.microsoft.com/office/drawing/2014/main" id="{0C59A6F7-A804-4EE0-92E0-76968431AD77}"/>
              </a:ext>
            </a:extLst>
          </p:cNvPr>
          <p:cNvSpPr>
            <a:spLocks noGrp="1"/>
          </p:cNvSpPr>
          <p:nvPr>
            <p:ph type="ftr" sz="quarter" idx="11"/>
          </p:nvPr>
        </p:nvSpPr>
        <p:spPr>
          <a:xfrm>
            <a:off x="1219200" y="6354762"/>
            <a:ext cx="5283200" cy="457200"/>
          </a:xfrm>
        </p:spPr>
        <p:txBody>
          <a:bodyPr/>
          <a:lstStyle/>
          <a:p>
            <a:r>
              <a:rPr lang="en-US" dirty="0"/>
              <a:t>Prepared by Deepali </a:t>
            </a:r>
            <a:r>
              <a:rPr lang="en-US" dirty="0" err="1"/>
              <a:t>Sonawane</a:t>
            </a:r>
            <a:r>
              <a:rPr lang="en-US" dirty="0"/>
              <a:t>, MIT-WPU, Pune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74638"/>
            <a:ext cx="10363200" cy="626699"/>
          </a:xfrm>
        </p:spPr>
        <p:txBody>
          <a:bodyPr>
            <a:normAutofit fontScale="90000"/>
          </a:bodyPr>
          <a:lstStyle/>
          <a:p>
            <a:r>
              <a:rPr lang="en-US" b="1" dirty="0"/>
              <a:t>Abstract class and method</a:t>
            </a:r>
            <a:endParaRPr lang="en-IN" b="1" dirty="0"/>
          </a:p>
        </p:txBody>
      </p:sp>
      <p:sp>
        <p:nvSpPr>
          <p:cNvPr id="3" name="Content Placeholder 2"/>
          <p:cNvSpPr>
            <a:spLocks noGrp="1"/>
          </p:cNvSpPr>
          <p:nvPr>
            <p:ph sz="quarter" idx="1"/>
          </p:nvPr>
        </p:nvSpPr>
        <p:spPr>
          <a:xfrm>
            <a:off x="1140823" y="912221"/>
            <a:ext cx="10363200" cy="5710648"/>
          </a:xfrm>
        </p:spPr>
        <p:txBody>
          <a:bodyPr>
            <a:normAutofit lnSpcReduction="10000"/>
          </a:bodyPr>
          <a:lstStyle/>
          <a:p>
            <a:r>
              <a:rPr lang="en-IN" dirty="0"/>
              <a:t>Abstract class is a </a:t>
            </a:r>
            <a:r>
              <a:rPr lang="en-IN" b="1" dirty="0"/>
              <a:t>super class </a:t>
            </a:r>
            <a:r>
              <a:rPr lang="en-IN" dirty="0"/>
              <a:t>that only defines a </a:t>
            </a:r>
            <a:r>
              <a:rPr lang="en-IN" b="1" dirty="0"/>
              <a:t>generalised form</a:t>
            </a:r>
            <a:r>
              <a:rPr lang="en-IN" dirty="0"/>
              <a:t> which will be shared by all its </a:t>
            </a:r>
            <a:r>
              <a:rPr lang="en-IN" b="1" dirty="0"/>
              <a:t>sub classes</a:t>
            </a:r>
            <a:r>
              <a:rPr lang="en-IN" dirty="0"/>
              <a:t>.</a:t>
            </a:r>
          </a:p>
          <a:p>
            <a:r>
              <a:rPr lang="en-IN" dirty="0"/>
              <a:t>An abstract class is a class that contains </a:t>
            </a:r>
            <a:r>
              <a:rPr lang="en-IN" b="1" dirty="0"/>
              <a:t>at least one abstract method</a:t>
            </a:r>
            <a:r>
              <a:rPr lang="en-IN" dirty="0"/>
              <a:t>. It can contains abstract as well as non-abstract method. </a:t>
            </a:r>
          </a:p>
          <a:p>
            <a:r>
              <a:rPr lang="en-US" dirty="0"/>
              <a:t>We can not use abstract classes to </a:t>
            </a:r>
            <a:r>
              <a:rPr lang="en-US" b="1" dirty="0"/>
              <a:t>instantiate object</a:t>
            </a:r>
            <a:r>
              <a:rPr lang="en-US" dirty="0"/>
              <a:t>.</a:t>
            </a:r>
            <a:endParaRPr lang="en-IN" dirty="0"/>
          </a:p>
          <a:p>
            <a:r>
              <a:rPr lang="en-IN" dirty="0"/>
              <a:t>An abstract method is a method that is declared in </a:t>
            </a:r>
            <a:r>
              <a:rPr lang="en-IN" b="1" dirty="0"/>
              <a:t>abstract class</a:t>
            </a:r>
            <a:r>
              <a:rPr lang="en-IN" dirty="0"/>
              <a:t> and defined in sub classes.</a:t>
            </a:r>
          </a:p>
          <a:p>
            <a:r>
              <a:rPr lang="en-IN" dirty="0"/>
              <a:t>An abstract class or method is defined with the </a:t>
            </a:r>
            <a:r>
              <a:rPr lang="en-IN" b="1" dirty="0"/>
              <a:t>abstract </a:t>
            </a:r>
            <a:r>
              <a:rPr lang="en-IN" dirty="0"/>
              <a:t>keyword.</a:t>
            </a:r>
            <a:r>
              <a:rPr lang="en-US" b="1" dirty="0"/>
              <a:t> </a:t>
            </a:r>
          </a:p>
          <a:p>
            <a:r>
              <a:rPr lang="en-US" b="1" dirty="0"/>
              <a:t>Example:</a:t>
            </a:r>
          </a:p>
          <a:p>
            <a:pPr>
              <a:buNone/>
            </a:pPr>
            <a:r>
              <a:rPr lang="en-US" dirty="0"/>
              <a:t>abstract class shape</a:t>
            </a:r>
          </a:p>
          <a:p>
            <a:pPr>
              <a:buNone/>
            </a:pPr>
            <a:r>
              <a:rPr lang="en-US" dirty="0"/>
              <a:t>{</a:t>
            </a:r>
          </a:p>
          <a:p>
            <a:pPr>
              <a:buNone/>
            </a:pPr>
            <a:r>
              <a:rPr lang="en-US" dirty="0"/>
              <a:t>	abstract public function area();</a:t>
            </a:r>
          </a:p>
          <a:p>
            <a:pPr>
              <a:buNone/>
            </a:pPr>
            <a:r>
              <a:rPr lang="en-US" dirty="0"/>
              <a:t>}</a:t>
            </a:r>
            <a:endParaRPr lang="en-IN" dirty="0"/>
          </a:p>
        </p:txBody>
      </p:sp>
      <p:sp>
        <p:nvSpPr>
          <p:cNvPr id="4" name="Footer Placeholder 3">
            <a:extLst>
              <a:ext uri="{FF2B5EF4-FFF2-40B4-BE49-F238E27FC236}">
                <a16:creationId xmlns:a16="http://schemas.microsoft.com/office/drawing/2014/main" id="{B64008DA-B0A3-4E66-9C1A-58A2B7AF9270}"/>
              </a:ext>
            </a:extLst>
          </p:cNvPr>
          <p:cNvSpPr>
            <a:spLocks noGrp="1"/>
          </p:cNvSpPr>
          <p:nvPr>
            <p:ph type="ftr" sz="quarter" idx="11"/>
          </p:nvPr>
        </p:nvSpPr>
        <p:spPr/>
        <p:txBody>
          <a:bodyPr/>
          <a:lstStyle/>
          <a:p>
            <a:r>
              <a:rPr lang="en-US" dirty="0"/>
              <a:t>Prepared by Deepali Sonawane, MIT-WPU, Pune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74638"/>
            <a:ext cx="10363200" cy="626699"/>
          </a:xfrm>
        </p:spPr>
        <p:txBody>
          <a:bodyPr>
            <a:normAutofit fontScale="90000"/>
          </a:bodyPr>
          <a:lstStyle/>
          <a:p>
            <a:r>
              <a:rPr lang="en-US" b="1" dirty="0"/>
              <a:t>Final keyword </a:t>
            </a:r>
            <a:endParaRPr lang="en-IN" b="1" dirty="0"/>
          </a:p>
        </p:txBody>
      </p:sp>
      <p:sp>
        <p:nvSpPr>
          <p:cNvPr id="3" name="Content Placeholder 2"/>
          <p:cNvSpPr>
            <a:spLocks noGrp="1"/>
          </p:cNvSpPr>
          <p:nvPr>
            <p:ph sz="quarter" idx="1"/>
          </p:nvPr>
        </p:nvSpPr>
        <p:spPr>
          <a:xfrm>
            <a:off x="1140823" y="912221"/>
            <a:ext cx="10363200" cy="5710648"/>
          </a:xfrm>
        </p:spPr>
        <p:txBody>
          <a:bodyPr>
            <a:normAutofit lnSpcReduction="10000"/>
          </a:bodyPr>
          <a:lstStyle/>
          <a:p>
            <a:r>
              <a:rPr lang="en-IN" dirty="0"/>
              <a:t>The </a:t>
            </a:r>
            <a:r>
              <a:rPr lang="en-IN" b="1" dirty="0"/>
              <a:t>final</a:t>
            </a:r>
            <a:r>
              <a:rPr lang="en-IN" dirty="0"/>
              <a:t> keyword is used in PHP for </a:t>
            </a:r>
            <a:r>
              <a:rPr lang="en-IN" b="1" dirty="0"/>
              <a:t>methods and classes</a:t>
            </a:r>
            <a:r>
              <a:rPr lang="en-IN" dirty="0"/>
              <a:t>.</a:t>
            </a:r>
          </a:p>
          <a:p>
            <a:r>
              <a:rPr lang="en-IN" dirty="0"/>
              <a:t>The final for methods </a:t>
            </a:r>
            <a:r>
              <a:rPr lang="en-IN" b="1" dirty="0"/>
              <a:t>prevent method overriding</a:t>
            </a:r>
            <a:r>
              <a:rPr lang="en-IN" dirty="0"/>
              <a:t>. A method that is declared final </a:t>
            </a:r>
            <a:r>
              <a:rPr lang="en-IN" b="1" dirty="0"/>
              <a:t>cannot be overridden</a:t>
            </a:r>
            <a:r>
              <a:rPr lang="en-IN" dirty="0"/>
              <a:t> in a subclass.</a:t>
            </a:r>
          </a:p>
          <a:p>
            <a:r>
              <a:rPr lang="en-IN" dirty="0"/>
              <a:t> The final for class </a:t>
            </a:r>
            <a:r>
              <a:rPr lang="en-IN" b="1" dirty="0"/>
              <a:t>prevent Inheritance</a:t>
            </a:r>
            <a:r>
              <a:rPr lang="en-IN" dirty="0"/>
              <a:t>. A final class can not be sub classed (extended) by any other class.</a:t>
            </a:r>
          </a:p>
          <a:p>
            <a:r>
              <a:rPr lang="en-US" b="1" dirty="0"/>
              <a:t>Example of final class:</a:t>
            </a:r>
          </a:p>
          <a:p>
            <a:pPr>
              <a:buNone/>
            </a:pPr>
            <a:r>
              <a:rPr lang="en-US" dirty="0"/>
              <a:t>final class </a:t>
            </a:r>
            <a:r>
              <a:rPr lang="en-US" dirty="0" err="1"/>
              <a:t>ArithmeticOperation</a:t>
            </a:r>
            <a:endParaRPr lang="en-US" dirty="0"/>
          </a:p>
          <a:p>
            <a:pPr>
              <a:buNone/>
            </a:pPr>
            <a:r>
              <a:rPr lang="en-US" dirty="0"/>
              <a:t>{</a:t>
            </a:r>
          </a:p>
          <a:p>
            <a:pPr>
              <a:buNone/>
            </a:pPr>
            <a:r>
              <a:rPr lang="en-US" dirty="0"/>
              <a:t>	public function add() </a:t>
            </a:r>
          </a:p>
          <a:p>
            <a:pPr>
              <a:buNone/>
            </a:pPr>
            <a:r>
              <a:rPr lang="en-US" dirty="0"/>
              <a:t>   {</a:t>
            </a:r>
          </a:p>
          <a:p>
            <a:pPr>
              <a:buNone/>
            </a:pPr>
            <a:r>
              <a:rPr lang="en-US" dirty="0"/>
              <a:t>		//Code of addition</a:t>
            </a:r>
          </a:p>
          <a:p>
            <a:pPr>
              <a:buNone/>
            </a:pPr>
            <a:r>
              <a:rPr lang="en-US" dirty="0"/>
              <a:t>   }</a:t>
            </a:r>
          </a:p>
          <a:p>
            <a:pPr>
              <a:buNone/>
            </a:pPr>
            <a:r>
              <a:rPr lang="en-US" dirty="0"/>
              <a:t>}</a:t>
            </a:r>
          </a:p>
          <a:p>
            <a:pPr>
              <a:buNone/>
            </a:pPr>
            <a:endParaRPr lang="en-US" dirty="0"/>
          </a:p>
        </p:txBody>
      </p:sp>
      <p:sp>
        <p:nvSpPr>
          <p:cNvPr id="4" name="Content Placeholder 2"/>
          <p:cNvSpPr txBox="1">
            <a:spLocks/>
          </p:cNvSpPr>
          <p:nvPr/>
        </p:nvSpPr>
        <p:spPr>
          <a:xfrm>
            <a:off x="6217920" y="3004458"/>
            <a:ext cx="5425440" cy="3448593"/>
          </a:xfrm>
          <a:prstGeom prst="rect">
            <a:avLst/>
          </a:prstGeom>
        </p:spPr>
        <p:txBody>
          <a:bodyPr vert="horz">
            <a:normAutofit/>
          </a:bodyPr>
          <a:lstStyle/>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r>
              <a:rPr kumimoji="0" lang="en-US" sz="2600" b="1" i="0" u="none" strike="noStrike" kern="1200" cap="none" spc="0" normalizeH="0" baseline="0" noProof="0" dirty="0">
                <a:ln>
                  <a:noFill/>
                </a:ln>
                <a:solidFill>
                  <a:schemeClr val="tx1"/>
                </a:solidFill>
                <a:effectLst/>
                <a:uLnTx/>
                <a:uFillTx/>
                <a:latin typeface="+mn-lt"/>
                <a:ea typeface="+mn-ea"/>
                <a:cs typeface="+mn-cs"/>
              </a:rPr>
              <a:t>Example of final method:</a:t>
            </a: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None/>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class </a:t>
            </a:r>
            <a:r>
              <a:rPr kumimoji="0" lang="en-US" sz="2600" b="0" i="0" u="none" strike="noStrike" kern="1200" cap="none" spc="0" normalizeH="0" baseline="0" noProof="0" dirty="0" err="1">
                <a:ln>
                  <a:noFill/>
                </a:ln>
                <a:solidFill>
                  <a:schemeClr val="tx1"/>
                </a:solidFill>
                <a:effectLst/>
                <a:uLnTx/>
                <a:uFillTx/>
                <a:latin typeface="+mn-lt"/>
                <a:ea typeface="+mn-ea"/>
                <a:cs typeface="+mn-cs"/>
              </a:rPr>
              <a:t>ArithmeticOperation</a:t>
            </a:r>
            <a:endParaRPr kumimoji="0" lang="en-US"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None/>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a:t>
            </a: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None/>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final public function add() </a:t>
            </a: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None/>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{//Code of addition</a:t>
            </a: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None/>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None/>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a:t>
            </a: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None/>
              <a:tabLst/>
              <a:defRPr/>
            </a:pPr>
            <a:endParaRPr kumimoji="0" lang="en-US" sz="26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Footer Placeholder 4">
            <a:extLst>
              <a:ext uri="{FF2B5EF4-FFF2-40B4-BE49-F238E27FC236}">
                <a16:creationId xmlns:a16="http://schemas.microsoft.com/office/drawing/2014/main" id="{FC7261C3-54DB-4968-929F-40E8641546AA}"/>
              </a:ext>
            </a:extLst>
          </p:cNvPr>
          <p:cNvSpPr>
            <a:spLocks noGrp="1"/>
          </p:cNvSpPr>
          <p:nvPr>
            <p:ph type="ftr" sz="quarter" idx="11"/>
          </p:nvPr>
        </p:nvSpPr>
        <p:spPr/>
        <p:txBody>
          <a:bodyPr/>
          <a:lstStyle/>
          <a:p>
            <a:r>
              <a:rPr lang="en-US"/>
              <a:t>Prepared by Deepali Sonawane, MIT-WPU, Pune</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74638"/>
            <a:ext cx="10363200" cy="626699"/>
          </a:xfrm>
        </p:spPr>
        <p:txBody>
          <a:bodyPr>
            <a:normAutofit fontScale="90000"/>
          </a:bodyPr>
          <a:lstStyle/>
          <a:p>
            <a:r>
              <a:rPr lang="en-US" b="1" dirty="0"/>
              <a:t>Interface </a:t>
            </a:r>
            <a:endParaRPr lang="en-IN" b="1" dirty="0"/>
          </a:p>
        </p:txBody>
      </p:sp>
      <p:sp>
        <p:nvSpPr>
          <p:cNvPr id="3" name="Content Placeholder 2"/>
          <p:cNvSpPr>
            <a:spLocks noGrp="1"/>
          </p:cNvSpPr>
          <p:nvPr>
            <p:ph sz="quarter" idx="1"/>
          </p:nvPr>
        </p:nvSpPr>
        <p:spPr>
          <a:xfrm>
            <a:off x="1140823" y="912221"/>
            <a:ext cx="10363200" cy="5710648"/>
          </a:xfrm>
        </p:spPr>
        <p:txBody>
          <a:bodyPr>
            <a:normAutofit fontScale="92500" lnSpcReduction="10000"/>
          </a:bodyPr>
          <a:lstStyle/>
          <a:p>
            <a:r>
              <a:rPr lang="en-IN" b="1" dirty="0"/>
              <a:t>Interfaces</a:t>
            </a:r>
            <a:r>
              <a:rPr lang="en-IN" dirty="0"/>
              <a:t> allow you to specify what methods a class should </a:t>
            </a:r>
            <a:r>
              <a:rPr lang="en-IN" b="1" dirty="0"/>
              <a:t>implement</a:t>
            </a:r>
            <a:r>
              <a:rPr lang="en-IN" dirty="0"/>
              <a:t>.</a:t>
            </a:r>
          </a:p>
          <a:p>
            <a:r>
              <a:rPr lang="en-IN" dirty="0"/>
              <a:t>Interfaces make it easy to use a </a:t>
            </a:r>
            <a:r>
              <a:rPr lang="en-IN" b="1" dirty="0"/>
              <a:t>variety of different classes</a:t>
            </a:r>
            <a:r>
              <a:rPr lang="en-IN" dirty="0"/>
              <a:t> in the same way. When one or more classes use the same interface, it is referred to as "</a:t>
            </a:r>
            <a:r>
              <a:rPr lang="en-IN" b="1" dirty="0"/>
              <a:t>polymorphism</a:t>
            </a:r>
            <a:r>
              <a:rPr lang="en-IN" dirty="0"/>
              <a:t>".</a:t>
            </a:r>
          </a:p>
          <a:p>
            <a:r>
              <a:rPr lang="en-US" dirty="0"/>
              <a:t>Single class can implement </a:t>
            </a:r>
            <a:r>
              <a:rPr lang="en-US" b="1" dirty="0"/>
              <a:t>one or more interfaces</a:t>
            </a:r>
            <a:r>
              <a:rPr lang="en-US" dirty="0"/>
              <a:t>.</a:t>
            </a:r>
            <a:endParaRPr lang="en-IN" dirty="0"/>
          </a:p>
          <a:p>
            <a:r>
              <a:rPr lang="en-IN" dirty="0"/>
              <a:t>Interfaces are declared with the </a:t>
            </a:r>
            <a:r>
              <a:rPr lang="en-IN" b="1" dirty="0"/>
              <a:t>interface</a:t>
            </a:r>
            <a:r>
              <a:rPr lang="en-IN" dirty="0"/>
              <a:t> keyword.</a:t>
            </a:r>
          </a:p>
          <a:p>
            <a:r>
              <a:rPr lang="en-IN" dirty="0"/>
              <a:t>To implement an interface, a class must use the </a:t>
            </a:r>
            <a:r>
              <a:rPr lang="en-IN" b="1" dirty="0"/>
              <a:t>implements</a:t>
            </a:r>
            <a:r>
              <a:rPr lang="en-IN" dirty="0"/>
              <a:t> keyword.</a:t>
            </a:r>
          </a:p>
          <a:p>
            <a:r>
              <a:rPr lang="en-IN" dirty="0"/>
              <a:t>A class that implements an interface must implement all of the interface's methods.</a:t>
            </a:r>
          </a:p>
          <a:p>
            <a:r>
              <a:rPr lang="en-US" b="1" dirty="0"/>
              <a:t>Syntax:</a:t>
            </a:r>
          </a:p>
          <a:p>
            <a:pPr>
              <a:buNone/>
            </a:pPr>
            <a:r>
              <a:rPr lang="en-US" dirty="0"/>
              <a:t>interface </a:t>
            </a:r>
            <a:r>
              <a:rPr lang="en-US" dirty="0" err="1"/>
              <a:t>interface_name</a:t>
            </a:r>
            <a:endParaRPr lang="en-US" dirty="0"/>
          </a:p>
          <a:p>
            <a:pPr>
              <a:buNone/>
            </a:pPr>
            <a:r>
              <a:rPr lang="en-US" dirty="0"/>
              <a:t>{</a:t>
            </a:r>
          </a:p>
          <a:p>
            <a:pPr>
              <a:buNone/>
            </a:pPr>
            <a:r>
              <a:rPr lang="en-US" dirty="0"/>
              <a:t>	public function </a:t>
            </a:r>
            <a:r>
              <a:rPr lang="en-US" dirty="0" err="1"/>
              <a:t>function_name</a:t>
            </a:r>
            <a:r>
              <a:rPr lang="en-US" dirty="0"/>
              <a:t>();</a:t>
            </a:r>
          </a:p>
          <a:p>
            <a:pPr>
              <a:buNone/>
            </a:pPr>
            <a:r>
              <a:rPr lang="en-US" dirty="0"/>
              <a:t>}</a:t>
            </a:r>
          </a:p>
          <a:p>
            <a:pPr>
              <a:buNone/>
            </a:pPr>
            <a:r>
              <a:rPr lang="en-US" dirty="0"/>
              <a:t>class </a:t>
            </a:r>
            <a:r>
              <a:rPr lang="en-US" dirty="0" err="1"/>
              <a:t>class_name</a:t>
            </a:r>
            <a:r>
              <a:rPr lang="en-US" dirty="0"/>
              <a:t> implements </a:t>
            </a:r>
            <a:r>
              <a:rPr lang="en-US" dirty="0" err="1"/>
              <a:t>interface_name</a:t>
            </a:r>
            <a:endParaRPr lang="en-US" dirty="0"/>
          </a:p>
          <a:p>
            <a:pPr>
              <a:buNone/>
            </a:pPr>
            <a:r>
              <a:rPr lang="en-US" dirty="0"/>
              <a:t>{  } </a:t>
            </a:r>
          </a:p>
        </p:txBody>
      </p:sp>
      <p:sp>
        <p:nvSpPr>
          <p:cNvPr id="4" name="Footer Placeholder 3">
            <a:extLst>
              <a:ext uri="{FF2B5EF4-FFF2-40B4-BE49-F238E27FC236}">
                <a16:creationId xmlns:a16="http://schemas.microsoft.com/office/drawing/2014/main" id="{94DDABA6-FD25-460B-A349-0D71A0F5D72A}"/>
              </a:ext>
            </a:extLst>
          </p:cNvPr>
          <p:cNvSpPr>
            <a:spLocks noGrp="1"/>
          </p:cNvSpPr>
          <p:nvPr>
            <p:ph type="ftr" sz="quarter" idx="11"/>
          </p:nvPr>
        </p:nvSpPr>
        <p:spPr/>
        <p:txBody>
          <a:bodyPr/>
          <a:lstStyle/>
          <a:p>
            <a:r>
              <a:rPr lang="en-US"/>
              <a:t>Prepared by Deepali Sonawane, MIT-WPU, Pune</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74638"/>
            <a:ext cx="10363200" cy="626699"/>
          </a:xfrm>
        </p:spPr>
        <p:txBody>
          <a:bodyPr>
            <a:normAutofit fontScale="90000"/>
          </a:bodyPr>
          <a:lstStyle/>
          <a:p>
            <a:r>
              <a:rPr lang="en-US" b="1" dirty="0"/>
              <a:t>Difference between Interface and Abstract class</a:t>
            </a:r>
            <a:endParaRPr lang="en-IN" b="1" dirty="0"/>
          </a:p>
        </p:txBody>
      </p:sp>
      <p:graphicFrame>
        <p:nvGraphicFramePr>
          <p:cNvPr id="4" name="Content Placeholder 3"/>
          <p:cNvGraphicFramePr>
            <a:graphicFrameLocks noGrp="1"/>
          </p:cNvGraphicFramePr>
          <p:nvPr>
            <p:ph sz="quarter" idx="1"/>
            <p:extLst>
              <p:ext uri="{D42A27DB-BD31-4B8C-83A1-F6EECF244321}">
                <p14:modId xmlns:p14="http://schemas.microsoft.com/office/powerpoint/2010/main" val="1323277587"/>
              </p:ext>
            </p:extLst>
          </p:nvPr>
        </p:nvGraphicFramePr>
        <p:xfrm>
          <a:off x="1141413" y="1007165"/>
          <a:ext cx="10363200" cy="5212080"/>
        </p:xfrm>
        <a:graphic>
          <a:graphicData uri="http://schemas.openxmlformats.org/drawingml/2006/table">
            <a:tbl>
              <a:tblPr firstRow="1" bandRow="1">
                <a:tableStyleId>{5C22544A-7EE6-4342-B048-85BDC9FD1C3A}</a:tableStyleId>
              </a:tblPr>
              <a:tblGrid>
                <a:gridCol w="5181600">
                  <a:extLst>
                    <a:ext uri="{9D8B030D-6E8A-4147-A177-3AD203B41FA5}">
                      <a16:colId xmlns:a16="http://schemas.microsoft.com/office/drawing/2014/main" val="20000"/>
                    </a:ext>
                  </a:extLst>
                </a:gridCol>
                <a:gridCol w="5181600">
                  <a:extLst>
                    <a:ext uri="{9D8B030D-6E8A-4147-A177-3AD203B41FA5}">
                      <a16:colId xmlns:a16="http://schemas.microsoft.com/office/drawing/2014/main" val="20001"/>
                    </a:ext>
                  </a:extLst>
                </a:gridCol>
              </a:tblGrid>
              <a:tr h="276488">
                <a:tc>
                  <a:txBody>
                    <a:bodyPr/>
                    <a:lstStyle/>
                    <a:p>
                      <a:pPr algn="ctr"/>
                      <a:r>
                        <a:rPr lang="en-US" b="1" dirty="0"/>
                        <a:t>Interface</a:t>
                      </a:r>
                      <a:endParaRPr lang="en-IN" b="1" dirty="0"/>
                    </a:p>
                  </a:txBody>
                  <a:tcPr/>
                </a:tc>
                <a:tc>
                  <a:txBody>
                    <a:bodyPr/>
                    <a:lstStyle/>
                    <a:p>
                      <a:pPr algn="ctr"/>
                      <a:r>
                        <a:rPr lang="en-US" b="1" dirty="0"/>
                        <a:t>Abstract class</a:t>
                      </a:r>
                      <a:endParaRPr lang="en-IN" b="1" dirty="0"/>
                    </a:p>
                  </a:txBody>
                  <a:tcPr/>
                </a:tc>
                <a:extLst>
                  <a:ext uri="{0D108BD9-81ED-4DB2-BD59-A6C34878D82A}">
                    <a16:rowId xmlns:a16="http://schemas.microsoft.com/office/drawing/2014/main" val="10000"/>
                  </a:ext>
                </a:extLst>
              </a:tr>
              <a:tr h="370840">
                <a:tc>
                  <a:txBody>
                    <a:bodyPr/>
                    <a:lstStyle/>
                    <a:p>
                      <a:r>
                        <a:rPr kumimoji="0" lang="en-IN" sz="2400" b="0" i="0" kern="1200" dirty="0">
                          <a:solidFill>
                            <a:schemeClr val="dk1"/>
                          </a:solidFill>
                          <a:latin typeface="+mn-lt"/>
                          <a:ea typeface="+mn-ea"/>
                          <a:cs typeface="+mn-cs"/>
                        </a:rPr>
                        <a:t>Interfaces cannot have properties (data members).</a:t>
                      </a:r>
                      <a:endParaRPr lang="en-IN" sz="2400" dirty="0"/>
                    </a:p>
                  </a:txBody>
                  <a:tcPr/>
                </a:tc>
                <a:tc>
                  <a:txBody>
                    <a:bodyPr/>
                    <a:lstStyle/>
                    <a:p>
                      <a:r>
                        <a:rPr kumimoji="0" lang="en-IN" sz="2400" b="0" i="0" kern="1200" dirty="0">
                          <a:solidFill>
                            <a:schemeClr val="dk1"/>
                          </a:solidFill>
                          <a:latin typeface="+mn-lt"/>
                          <a:ea typeface="+mn-ea"/>
                          <a:cs typeface="+mn-cs"/>
                        </a:rPr>
                        <a:t>Abstract classes can have properties (data members).</a:t>
                      </a:r>
                      <a:endParaRPr lang="en-IN" sz="2400" dirty="0"/>
                    </a:p>
                  </a:txBody>
                  <a:tcPr/>
                </a:tc>
                <a:extLst>
                  <a:ext uri="{0D108BD9-81ED-4DB2-BD59-A6C34878D82A}">
                    <a16:rowId xmlns:a16="http://schemas.microsoft.com/office/drawing/2014/main" val="10001"/>
                  </a:ext>
                </a:extLst>
              </a:tr>
              <a:tr h="370840">
                <a:tc>
                  <a:txBody>
                    <a:bodyPr/>
                    <a:lstStyle/>
                    <a:p>
                      <a:r>
                        <a:rPr kumimoji="0" lang="en-IN" sz="2400" b="0" i="0" kern="1200" dirty="0">
                          <a:solidFill>
                            <a:schemeClr val="dk1"/>
                          </a:solidFill>
                          <a:latin typeface="+mn-lt"/>
                          <a:ea typeface="+mn-ea"/>
                          <a:cs typeface="+mn-cs"/>
                        </a:rPr>
                        <a:t>All interface methods must be </a:t>
                      </a:r>
                      <a:r>
                        <a:rPr kumimoji="0" lang="en-IN" sz="2400" b="1" i="0" kern="1200" dirty="0">
                          <a:solidFill>
                            <a:schemeClr val="dk1"/>
                          </a:solidFill>
                          <a:latin typeface="+mn-lt"/>
                          <a:ea typeface="+mn-ea"/>
                          <a:cs typeface="+mn-cs"/>
                        </a:rPr>
                        <a:t>public</a:t>
                      </a:r>
                      <a:r>
                        <a:rPr kumimoji="0" lang="en-IN" sz="2400" b="0" i="0" kern="1200" dirty="0">
                          <a:solidFill>
                            <a:schemeClr val="dk1"/>
                          </a:solidFill>
                          <a:latin typeface="+mn-lt"/>
                          <a:ea typeface="+mn-ea"/>
                          <a:cs typeface="+mn-cs"/>
                        </a:rPr>
                        <a:t>. </a:t>
                      </a:r>
                      <a:endParaRPr lang="en-IN" sz="2400" dirty="0"/>
                    </a:p>
                  </a:txBody>
                  <a:tcPr/>
                </a:tc>
                <a:tc>
                  <a:txBody>
                    <a:bodyPr/>
                    <a:lstStyle/>
                    <a:p>
                      <a:r>
                        <a:rPr kumimoji="0" lang="en-IN" sz="2400" b="0" i="0" kern="1200" dirty="0">
                          <a:solidFill>
                            <a:schemeClr val="dk1"/>
                          </a:solidFill>
                          <a:latin typeface="+mn-lt"/>
                          <a:ea typeface="+mn-ea"/>
                          <a:cs typeface="+mn-cs"/>
                        </a:rPr>
                        <a:t>Abstract class methods may be </a:t>
                      </a:r>
                      <a:r>
                        <a:rPr kumimoji="0" lang="en-IN" sz="2400" b="1" i="0" kern="1200" dirty="0">
                          <a:solidFill>
                            <a:schemeClr val="dk1"/>
                          </a:solidFill>
                          <a:latin typeface="+mn-lt"/>
                          <a:ea typeface="+mn-ea"/>
                          <a:cs typeface="+mn-cs"/>
                        </a:rPr>
                        <a:t>private, protected or public</a:t>
                      </a:r>
                      <a:endParaRPr lang="en-IN" sz="2400" b="1"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IN" sz="2400" b="0" i="0" kern="1200" dirty="0">
                          <a:solidFill>
                            <a:schemeClr val="dk1"/>
                          </a:solidFill>
                          <a:latin typeface="+mn-lt"/>
                          <a:ea typeface="+mn-ea"/>
                          <a:cs typeface="+mn-cs"/>
                        </a:rPr>
                        <a:t>All methods in an interface are abstract, so they cannot be implemented in code and the abstract keyword is not necessary.</a:t>
                      </a:r>
                    </a:p>
                  </a:txBody>
                  <a:tcPr/>
                </a:tc>
                <a:tc>
                  <a:txBody>
                    <a:bodyPr/>
                    <a:lstStyle/>
                    <a:p>
                      <a:r>
                        <a:rPr lang="en-US" sz="2400" dirty="0"/>
                        <a:t>Abstract</a:t>
                      </a:r>
                      <a:r>
                        <a:rPr lang="en-US" sz="2400" baseline="0" dirty="0"/>
                        <a:t> keyword is used to declare abstract method in the abstract class.</a:t>
                      </a:r>
                      <a:endParaRPr lang="en-IN" sz="2400" dirty="0"/>
                    </a:p>
                  </a:txBody>
                  <a:tcPr/>
                </a:tc>
                <a:extLst>
                  <a:ext uri="{0D108BD9-81ED-4DB2-BD59-A6C34878D82A}">
                    <a16:rowId xmlns:a16="http://schemas.microsoft.com/office/drawing/2014/main" val="10003"/>
                  </a:ext>
                </a:extLst>
              </a:tr>
              <a:tr h="370840">
                <a:tc>
                  <a:txBody>
                    <a:bodyPr/>
                    <a:lstStyle/>
                    <a:p>
                      <a:r>
                        <a:rPr kumimoji="0" lang="en-IN" sz="2400" b="0" i="0" kern="1200" dirty="0">
                          <a:solidFill>
                            <a:schemeClr val="dk1"/>
                          </a:solidFill>
                          <a:latin typeface="+mn-lt"/>
                          <a:ea typeface="+mn-ea"/>
                          <a:cs typeface="+mn-cs"/>
                        </a:rPr>
                        <a:t>Classes </a:t>
                      </a:r>
                      <a:r>
                        <a:rPr kumimoji="0" lang="en-IN" sz="2400" b="1" i="0" kern="1200" dirty="0">
                          <a:solidFill>
                            <a:schemeClr val="dk1"/>
                          </a:solidFill>
                          <a:latin typeface="+mn-lt"/>
                          <a:ea typeface="+mn-ea"/>
                          <a:cs typeface="+mn-cs"/>
                        </a:rPr>
                        <a:t>implements</a:t>
                      </a:r>
                      <a:r>
                        <a:rPr kumimoji="0" lang="en-IN" sz="2400" b="0" i="0" kern="1200" dirty="0">
                          <a:solidFill>
                            <a:schemeClr val="dk1"/>
                          </a:solidFill>
                          <a:latin typeface="+mn-lt"/>
                          <a:ea typeface="+mn-ea"/>
                          <a:cs typeface="+mn-cs"/>
                        </a:rPr>
                        <a:t> an interface while inheriting from another class.</a:t>
                      </a:r>
                      <a:endParaRPr lang="en-IN"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IN" sz="2400" b="0" i="0" kern="1200" dirty="0">
                          <a:solidFill>
                            <a:schemeClr val="dk1"/>
                          </a:solidFill>
                          <a:latin typeface="+mn-lt"/>
                          <a:ea typeface="+mn-ea"/>
                          <a:cs typeface="+mn-cs"/>
                        </a:rPr>
                        <a:t>Classes </a:t>
                      </a:r>
                      <a:r>
                        <a:rPr kumimoji="0" lang="en-IN" sz="2400" b="1" i="0" kern="1200" dirty="0">
                          <a:solidFill>
                            <a:schemeClr val="dk1"/>
                          </a:solidFill>
                          <a:latin typeface="+mn-lt"/>
                          <a:ea typeface="+mn-ea"/>
                          <a:cs typeface="+mn-cs"/>
                        </a:rPr>
                        <a:t>extends</a:t>
                      </a:r>
                      <a:r>
                        <a:rPr kumimoji="0" lang="en-IN" sz="2400" b="0" i="0" kern="1200" dirty="0">
                          <a:solidFill>
                            <a:schemeClr val="dk1"/>
                          </a:solidFill>
                          <a:latin typeface="+mn-lt"/>
                          <a:ea typeface="+mn-ea"/>
                          <a:cs typeface="+mn-cs"/>
                        </a:rPr>
                        <a:t> abstract class while inheriting from another class.</a:t>
                      </a:r>
                      <a:endParaRPr lang="en-IN" sz="2400" dirty="0"/>
                    </a:p>
                    <a:p>
                      <a:endParaRPr lang="en-IN" sz="2400" dirty="0"/>
                    </a:p>
                  </a:txBody>
                  <a:tcPr/>
                </a:tc>
                <a:extLst>
                  <a:ext uri="{0D108BD9-81ED-4DB2-BD59-A6C34878D82A}">
                    <a16:rowId xmlns:a16="http://schemas.microsoft.com/office/drawing/2014/main" val="10004"/>
                  </a:ext>
                </a:extLst>
              </a:tr>
              <a:tr h="370840">
                <a:tc>
                  <a:txBody>
                    <a:bodyPr/>
                    <a:lstStyle/>
                    <a:p>
                      <a:r>
                        <a:rPr lang="en-US" sz="2400" dirty="0"/>
                        <a:t>A class can implements more than one interfaces.</a:t>
                      </a:r>
                      <a:endParaRPr lang="en-IN" sz="2400" dirty="0"/>
                    </a:p>
                  </a:txBody>
                  <a:tcPr/>
                </a:tc>
                <a:tc>
                  <a:txBody>
                    <a:bodyPr/>
                    <a:lstStyle/>
                    <a:p>
                      <a:r>
                        <a:rPr lang="en-US" sz="2400" dirty="0"/>
                        <a:t>A class can extends only one abstract</a:t>
                      </a:r>
                      <a:r>
                        <a:rPr lang="en-US" sz="2400" baseline="0" dirty="0"/>
                        <a:t> class.</a:t>
                      </a:r>
                      <a:endParaRPr lang="en-IN" sz="2400" dirty="0"/>
                    </a:p>
                  </a:txBody>
                  <a:tcPr/>
                </a:tc>
                <a:extLst>
                  <a:ext uri="{0D108BD9-81ED-4DB2-BD59-A6C34878D82A}">
                    <a16:rowId xmlns:a16="http://schemas.microsoft.com/office/drawing/2014/main" val="10005"/>
                  </a:ext>
                </a:extLst>
              </a:tr>
            </a:tbl>
          </a:graphicData>
        </a:graphic>
      </p:graphicFrame>
      <p:sp>
        <p:nvSpPr>
          <p:cNvPr id="3" name="Footer Placeholder 2">
            <a:extLst>
              <a:ext uri="{FF2B5EF4-FFF2-40B4-BE49-F238E27FC236}">
                <a16:creationId xmlns:a16="http://schemas.microsoft.com/office/drawing/2014/main" id="{335C14FA-4DD8-46CF-9EB9-0F0B3FC3CA81}"/>
              </a:ext>
            </a:extLst>
          </p:cNvPr>
          <p:cNvSpPr>
            <a:spLocks noGrp="1"/>
          </p:cNvSpPr>
          <p:nvPr>
            <p:ph type="ftr" sz="quarter" idx="11"/>
          </p:nvPr>
        </p:nvSpPr>
        <p:spPr/>
        <p:txBody>
          <a:bodyPr/>
          <a:lstStyle/>
          <a:p>
            <a:r>
              <a:rPr lang="en-US"/>
              <a:t>Prepared by Deepali Sonawane, MIT-WPU, Pune</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74638"/>
            <a:ext cx="10363200" cy="626699"/>
          </a:xfrm>
        </p:spPr>
        <p:txBody>
          <a:bodyPr>
            <a:normAutofit fontScale="90000"/>
          </a:bodyPr>
          <a:lstStyle/>
          <a:p>
            <a:r>
              <a:rPr lang="en-US" b="1" dirty="0" err="1"/>
              <a:t>instanceof</a:t>
            </a:r>
            <a:r>
              <a:rPr lang="en-US" b="1" dirty="0"/>
              <a:t> operator </a:t>
            </a:r>
            <a:endParaRPr lang="en-IN" b="1" dirty="0"/>
          </a:p>
        </p:txBody>
      </p:sp>
      <p:sp>
        <p:nvSpPr>
          <p:cNvPr id="3" name="Content Placeholder 2"/>
          <p:cNvSpPr>
            <a:spLocks noGrp="1"/>
          </p:cNvSpPr>
          <p:nvPr>
            <p:ph sz="quarter" idx="1"/>
          </p:nvPr>
        </p:nvSpPr>
        <p:spPr>
          <a:xfrm>
            <a:off x="1140823" y="912221"/>
            <a:ext cx="10363200" cy="5710648"/>
          </a:xfrm>
        </p:spPr>
        <p:txBody>
          <a:bodyPr>
            <a:normAutofit/>
          </a:bodyPr>
          <a:lstStyle/>
          <a:p>
            <a:r>
              <a:rPr lang="en-IN" dirty="0" err="1"/>
              <a:t>instanceof</a:t>
            </a:r>
            <a:r>
              <a:rPr lang="en-IN" dirty="0"/>
              <a:t> operator is used to check whether an object is an </a:t>
            </a:r>
            <a:r>
              <a:rPr lang="en-IN" b="1" dirty="0"/>
              <a:t>instance of the class or not</a:t>
            </a:r>
            <a:r>
              <a:rPr lang="en-IN" dirty="0"/>
              <a:t>.</a:t>
            </a:r>
          </a:p>
          <a:p>
            <a:r>
              <a:rPr lang="en-IN" dirty="0"/>
              <a:t>This can be useful to </a:t>
            </a:r>
            <a:r>
              <a:rPr lang="en-IN" b="1" dirty="0"/>
              <a:t>controlling</a:t>
            </a:r>
            <a:r>
              <a:rPr lang="en-IN" dirty="0"/>
              <a:t> objects in large applications as you can make sure that a parameter is a particular </a:t>
            </a:r>
            <a:r>
              <a:rPr lang="en-IN" b="1" dirty="0"/>
              <a:t>instance</a:t>
            </a:r>
            <a:r>
              <a:rPr lang="en-IN" dirty="0"/>
              <a:t> of an object before using it.</a:t>
            </a:r>
          </a:p>
          <a:p>
            <a:pPr algn="just"/>
            <a:r>
              <a:rPr lang="en-IN" dirty="0"/>
              <a:t>The </a:t>
            </a:r>
            <a:r>
              <a:rPr lang="en-IN" b="1" dirty="0"/>
              <a:t>first (left) parameter</a:t>
            </a:r>
            <a:r>
              <a:rPr lang="en-IN" dirty="0"/>
              <a:t> is the </a:t>
            </a:r>
            <a:r>
              <a:rPr lang="en-IN" b="1" dirty="0"/>
              <a:t>object</a:t>
            </a:r>
            <a:r>
              <a:rPr lang="en-IN" dirty="0"/>
              <a:t> to test. If this variable is not an object, </a:t>
            </a:r>
            <a:r>
              <a:rPr lang="en-IN" dirty="0" err="1"/>
              <a:t>instanceof</a:t>
            </a:r>
            <a:r>
              <a:rPr lang="en-IN" dirty="0"/>
              <a:t> always returns false.</a:t>
            </a:r>
          </a:p>
          <a:p>
            <a:pPr algn="just"/>
            <a:r>
              <a:rPr lang="en-IN" dirty="0"/>
              <a:t>The </a:t>
            </a:r>
            <a:r>
              <a:rPr lang="en-IN" b="1" dirty="0"/>
              <a:t>second (right) parameter</a:t>
            </a:r>
            <a:r>
              <a:rPr lang="en-IN" dirty="0"/>
              <a:t> is the class to compare with. The class can be provided as the class name itself, a string variable containing the class name or an object of that class.</a:t>
            </a:r>
          </a:p>
          <a:p>
            <a:pPr algn="just">
              <a:buNone/>
            </a:pPr>
            <a:endParaRPr lang="en-IN" dirty="0"/>
          </a:p>
          <a:p>
            <a:pPr>
              <a:buNone/>
            </a:pPr>
            <a:endParaRPr lang="en-US" dirty="0"/>
          </a:p>
        </p:txBody>
      </p:sp>
      <p:sp>
        <p:nvSpPr>
          <p:cNvPr id="4" name="Footer Placeholder 3">
            <a:extLst>
              <a:ext uri="{FF2B5EF4-FFF2-40B4-BE49-F238E27FC236}">
                <a16:creationId xmlns:a16="http://schemas.microsoft.com/office/drawing/2014/main" id="{D4638A88-DED6-453C-AED2-60A622D73237}"/>
              </a:ext>
            </a:extLst>
          </p:cNvPr>
          <p:cNvSpPr>
            <a:spLocks noGrp="1"/>
          </p:cNvSpPr>
          <p:nvPr>
            <p:ph type="ftr" sz="quarter" idx="11"/>
          </p:nvPr>
        </p:nvSpPr>
        <p:spPr/>
        <p:txBody>
          <a:bodyPr/>
          <a:lstStyle/>
          <a:p>
            <a:r>
              <a:rPr lang="en-US"/>
              <a:t>Prepared by Deepali Sonawane, MIT-WPU, Pune</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74638"/>
            <a:ext cx="10363200" cy="626699"/>
          </a:xfrm>
        </p:spPr>
        <p:txBody>
          <a:bodyPr>
            <a:normAutofit fontScale="90000"/>
          </a:bodyPr>
          <a:lstStyle/>
          <a:p>
            <a:r>
              <a:rPr lang="en-US" b="1" dirty="0" err="1"/>
              <a:t>instanceof</a:t>
            </a:r>
            <a:r>
              <a:rPr lang="en-US" b="1" dirty="0"/>
              <a:t> operator Example</a:t>
            </a:r>
            <a:endParaRPr lang="en-IN" b="1" dirty="0"/>
          </a:p>
        </p:txBody>
      </p:sp>
      <p:sp>
        <p:nvSpPr>
          <p:cNvPr id="3" name="Content Placeholder 2"/>
          <p:cNvSpPr>
            <a:spLocks noGrp="1"/>
          </p:cNvSpPr>
          <p:nvPr>
            <p:ph sz="quarter" idx="1"/>
          </p:nvPr>
        </p:nvSpPr>
        <p:spPr>
          <a:xfrm>
            <a:off x="1140823" y="912221"/>
            <a:ext cx="10363200" cy="5710648"/>
          </a:xfrm>
        </p:spPr>
        <p:txBody>
          <a:bodyPr>
            <a:normAutofit fontScale="92500" lnSpcReduction="10000"/>
          </a:bodyPr>
          <a:lstStyle/>
          <a:p>
            <a:pPr algn="just">
              <a:buNone/>
            </a:pPr>
            <a:r>
              <a:rPr lang="en-US" dirty="0"/>
              <a:t>&lt;?</a:t>
            </a:r>
            <a:r>
              <a:rPr lang="en-US" dirty="0" err="1"/>
              <a:t>php</a:t>
            </a:r>
            <a:endParaRPr lang="en-US" dirty="0"/>
          </a:p>
          <a:p>
            <a:pPr>
              <a:buNone/>
            </a:pPr>
            <a:r>
              <a:rPr lang="en-IN" dirty="0"/>
              <a:t>class </a:t>
            </a:r>
            <a:r>
              <a:rPr lang="en-IN" dirty="0" err="1"/>
              <a:t>MyClass</a:t>
            </a:r>
            <a:r>
              <a:rPr lang="en-IN" dirty="0"/>
              <a:t> </a:t>
            </a:r>
          </a:p>
          <a:p>
            <a:pPr>
              <a:buNone/>
            </a:pPr>
            <a:r>
              <a:rPr lang="en-IN" dirty="0"/>
              <a:t>{ </a:t>
            </a:r>
          </a:p>
          <a:p>
            <a:pPr>
              <a:buNone/>
            </a:pPr>
            <a:endParaRPr lang="en-IN" dirty="0"/>
          </a:p>
          <a:p>
            <a:pPr>
              <a:buNone/>
            </a:pPr>
            <a:r>
              <a:rPr lang="en-IN" dirty="0"/>
              <a:t>} </a:t>
            </a:r>
          </a:p>
          <a:p>
            <a:pPr>
              <a:buNone/>
            </a:pPr>
            <a:r>
              <a:rPr lang="en-IN" dirty="0"/>
              <a:t>$ob1 = new </a:t>
            </a:r>
            <a:r>
              <a:rPr lang="en-IN" dirty="0" err="1"/>
              <a:t>MyClass</a:t>
            </a:r>
            <a:r>
              <a:rPr lang="en-IN" dirty="0"/>
              <a:t>(); </a:t>
            </a:r>
          </a:p>
          <a:p>
            <a:pPr>
              <a:buNone/>
            </a:pPr>
            <a:r>
              <a:rPr lang="en-IN" dirty="0"/>
              <a:t>$ob2 = new </a:t>
            </a:r>
            <a:r>
              <a:rPr lang="en-IN" dirty="0" err="1"/>
              <a:t>MyClass</a:t>
            </a:r>
            <a:r>
              <a:rPr lang="en-IN" dirty="0"/>
              <a:t>(); </a:t>
            </a:r>
          </a:p>
          <a:p>
            <a:pPr>
              <a:buNone/>
            </a:pPr>
            <a:r>
              <a:rPr lang="en-IN" dirty="0"/>
              <a:t>$name = '</a:t>
            </a:r>
            <a:r>
              <a:rPr lang="en-IN" dirty="0" err="1"/>
              <a:t>MyClass</a:t>
            </a:r>
            <a:r>
              <a:rPr lang="en-IN" dirty="0"/>
              <a:t>'; // in the cases below, $a gets </a:t>
            </a:r>
            <a:r>
              <a:rPr lang="en-IN" dirty="0" err="1"/>
              <a:t>boolean</a:t>
            </a:r>
            <a:r>
              <a:rPr lang="en-IN" dirty="0"/>
              <a:t> value true </a:t>
            </a:r>
          </a:p>
          <a:p>
            <a:pPr>
              <a:buNone/>
            </a:pPr>
            <a:endParaRPr lang="en-IN" dirty="0"/>
          </a:p>
          <a:p>
            <a:pPr>
              <a:buNone/>
            </a:pPr>
            <a:r>
              <a:rPr lang="en-IN" dirty="0"/>
              <a:t>$a = $ob1 </a:t>
            </a:r>
            <a:r>
              <a:rPr lang="en-IN" dirty="0" err="1"/>
              <a:t>instanceof</a:t>
            </a:r>
            <a:r>
              <a:rPr lang="en-IN" dirty="0"/>
              <a:t> </a:t>
            </a:r>
            <a:r>
              <a:rPr lang="en-IN" dirty="0" err="1"/>
              <a:t>MyClass</a:t>
            </a:r>
            <a:r>
              <a:rPr lang="en-IN" dirty="0"/>
              <a:t>;  </a:t>
            </a:r>
          </a:p>
          <a:p>
            <a:pPr>
              <a:buNone/>
            </a:pPr>
            <a:r>
              <a:rPr lang="en-IN" dirty="0"/>
              <a:t>$a = $ob1 </a:t>
            </a:r>
            <a:r>
              <a:rPr lang="en-IN" dirty="0" err="1"/>
              <a:t>instanceof</a:t>
            </a:r>
            <a:r>
              <a:rPr lang="en-IN" dirty="0"/>
              <a:t> $name; </a:t>
            </a:r>
          </a:p>
          <a:p>
            <a:pPr>
              <a:buNone/>
            </a:pPr>
            <a:r>
              <a:rPr lang="en-IN" dirty="0"/>
              <a:t>$a = $ob1 </a:t>
            </a:r>
            <a:r>
              <a:rPr lang="en-IN" dirty="0" err="1"/>
              <a:t>instanceof</a:t>
            </a:r>
            <a:r>
              <a:rPr lang="en-IN" dirty="0"/>
              <a:t> $ob2; </a:t>
            </a:r>
          </a:p>
          <a:p>
            <a:pPr>
              <a:buNone/>
            </a:pPr>
            <a:r>
              <a:rPr lang="en-IN" dirty="0"/>
              <a:t>?&gt;</a:t>
            </a:r>
            <a:br>
              <a:rPr lang="en-IN" dirty="0"/>
            </a:br>
            <a:endParaRPr lang="en-IN" dirty="0"/>
          </a:p>
          <a:p>
            <a:pPr>
              <a:buNone/>
            </a:pPr>
            <a:endParaRPr lang="en-US" dirty="0"/>
          </a:p>
        </p:txBody>
      </p:sp>
      <p:sp>
        <p:nvSpPr>
          <p:cNvPr id="4" name="Footer Placeholder 3">
            <a:extLst>
              <a:ext uri="{FF2B5EF4-FFF2-40B4-BE49-F238E27FC236}">
                <a16:creationId xmlns:a16="http://schemas.microsoft.com/office/drawing/2014/main" id="{C80FE9C7-B620-4C6A-848C-0AF57E7ED95A}"/>
              </a:ext>
            </a:extLst>
          </p:cNvPr>
          <p:cNvSpPr>
            <a:spLocks noGrp="1"/>
          </p:cNvSpPr>
          <p:nvPr>
            <p:ph type="ftr" sz="quarter" idx="11"/>
          </p:nvPr>
        </p:nvSpPr>
        <p:spPr/>
        <p:txBody>
          <a:bodyPr/>
          <a:lstStyle/>
          <a:p>
            <a:r>
              <a:rPr lang="en-US" dirty="0"/>
              <a:t>Prepared by Deepali Sonawane, MIT-WPU, Pune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056692" y="2495228"/>
            <a:ext cx="10078616" cy="1227686"/>
          </a:xfrm>
        </p:spPr>
        <p:txBody>
          <a:bodyPr>
            <a:normAutofit fontScale="85000" lnSpcReduction="20000"/>
          </a:bodyPr>
          <a:lstStyle/>
          <a:p>
            <a:pPr marL="0" indent="0" algn="ctr" fontAlgn="base">
              <a:buNone/>
            </a:pPr>
            <a:r>
              <a:rPr lang="en-US" sz="9600" dirty="0">
                <a:solidFill>
                  <a:srgbClr val="0070C0"/>
                </a:solidFill>
                <a:effectLst>
                  <a:outerShdw blurRad="38100" dist="38100" dir="2700000" algn="tl">
                    <a:srgbClr val="000000">
                      <a:alpha val="43137"/>
                    </a:srgbClr>
                  </a:outerShdw>
                </a:effectLst>
              </a:rPr>
              <a:t>Thank you</a:t>
            </a:r>
            <a:endParaRPr lang="en-US" dirty="0">
              <a:solidFill>
                <a:srgbClr val="0070C0"/>
              </a:solidFill>
              <a:effectLst>
                <a:outerShdw blurRad="38100" dist="38100" dir="2700000" algn="tl">
                  <a:srgbClr val="000000">
                    <a:alpha val="43137"/>
                  </a:srgbClr>
                </a:outerShdw>
              </a:effectLst>
            </a:endParaRPr>
          </a:p>
        </p:txBody>
      </p:sp>
      <p:sp>
        <p:nvSpPr>
          <p:cNvPr id="4" name="Footer Placeholder 3">
            <a:extLst>
              <a:ext uri="{FF2B5EF4-FFF2-40B4-BE49-F238E27FC236}">
                <a16:creationId xmlns:a16="http://schemas.microsoft.com/office/drawing/2014/main" id="{7D14BAD0-0BE2-4E89-A73D-1D697ECC4E7D}"/>
              </a:ext>
            </a:extLst>
          </p:cNvPr>
          <p:cNvSpPr>
            <a:spLocks noGrp="1"/>
          </p:cNvSpPr>
          <p:nvPr>
            <p:ph type="ftr" sz="quarter" idx="11"/>
          </p:nvPr>
        </p:nvSpPr>
        <p:spPr/>
        <p:txBody>
          <a:bodyPr/>
          <a:lstStyle/>
          <a:p>
            <a:r>
              <a:rPr lang="en-US" dirty="0"/>
              <a:t>Prepared by Deepali Sonawane, MIT-WPU, Pune</a:t>
            </a:r>
          </a:p>
        </p:txBody>
      </p:sp>
    </p:spTree>
    <p:extLst>
      <p:ext uri="{BB962C8B-B14F-4D97-AF65-F5344CB8AC3E}">
        <p14:creationId xmlns:p14="http://schemas.microsoft.com/office/powerpoint/2010/main" val="366185311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Equity</Template>
  <TotalTime>7498</TotalTime>
  <Words>2842</Words>
  <Application>Microsoft Office PowerPoint</Application>
  <PresentationFormat>Widescreen</PresentationFormat>
  <Paragraphs>355</Paragraphs>
  <Slides>25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Calibri</vt:lpstr>
      <vt:lpstr>Franklin Gothic Book</vt:lpstr>
      <vt:lpstr>Perpetua</vt:lpstr>
      <vt:lpstr>Times New Roman</vt:lpstr>
      <vt:lpstr>Wingdings 2</vt:lpstr>
      <vt:lpstr>Equity</vt:lpstr>
      <vt:lpstr>Chapter 4 : Introduction to Object Oriented Programming</vt:lpstr>
      <vt:lpstr>What is OOP?</vt:lpstr>
      <vt:lpstr>Object Oriented Concepts</vt:lpstr>
      <vt:lpstr>Class</vt:lpstr>
      <vt:lpstr>Object</vt:lpstr>
      <vt:lpstr>Access modifiers</vt:lpstr>
      <vt:lpstr>Use of $this</vt:lpstr>
      <vt:lpstr>Constructor</vt:lpstr>
      <vt:lpstr>Destructor</vt:lpstr>
      <vt:lpstr>Static Properties</vt:lpstr>
      <vt:lpstr>Static Properties Example</vt:lpstr>
      <vt:lpstr>Static Methods</vt:lpstr>
      <vt:lpstr>Static Methods Example</vt:lpstr>
      <vt:lpstr>Inheritance</vt:lpstr>
      <vt:lpstr>Advantages and Disadvantages of Inheritance</vt:lpstr>
      <vt:lpstr>Types of Inheritance</vt:lpstr>
      <vt:lpstr>Function Overriding</vt:lpstr>
      <vt:lpstr>Parent:: &amp; self:: keyword</vt:lpstr>
      <vt:lpstr>Abstract class and method</vt:lpstr>
      <vt:lpstr>Final keyword </vt:lpstr>
      <vt:lpstr>Interface </vt:lpstr>
      <vt:lpstr>Difference between Interface and Abstract class</vt:lpstr>
      <vt:lpstr>instanceof operator </vt:lpstr>
      <vt:lpstr>instanceof operator Example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Web Technologies</dc:title>
  <dc:creator>Deepali Sonawane</dc:creator>
  <cp:lastModifiedBy>Deepali Sonawane</cp:lastModifiedBy>
  <cp:revision>2097</cp:revision>
  <dcterms:created xsi:type="dcterms:W3CDTF">2018-07-09T09:07:27Z</dcterms:created>
  <dcterms:modified xsi:type="dcterms:W3CDTF">2025-10-30T10:13:20Z</dcterms:modified>
</cp:coreProperties>
</file>